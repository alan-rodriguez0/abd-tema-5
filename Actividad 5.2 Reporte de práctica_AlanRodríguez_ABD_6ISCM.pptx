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8288000" cy="10287000"/>
  <p:notesSz cx="6858000" cy="9144000"/>
  <p:embeddedFontLst>
    <p:embeddedFont>
      <p:font typeface="Calibri" panose="020F0502020204030204" pitchFamily="34" charset="0"/>
      <p:regular r:id="rId46"/>
      <p:bold r:id="rId47"/>
      <p:italic r:id="rId48"/>
      <p:boldItalic r:id="rId49"/>
    </p:embeddedFont>
    <p:embeddedFont>
      <p:font typeface="Glacial Indifference" panose="020B0604020202020204" charset="0"/>
      <p:regular r:id="rId50"/>
    </p:embeddedFont>
    <p:embeddedFont>
      <p:font typeface="Glacial Indifference Bold" panose="020B0604020202020204" charset="0"/>
      <p:regular r:id="rId51"/>
    </p:embeddedFont>
    <p:embeddedFont>
      <p:font typeface="Montserrat Light" panose="00000400000000000000" pitchFamily="2" charset="0"/>
      <p:regular r:id="rId52"/>
      <p:italic r:id="rId53"/>
    </p:embeddedFont>
    <p:embeddedFont>
      <p:font typeface="Montserrat Light Bold" panose="020B0604020202020204" charset="0"/>
      <p:regular r:id="rId54"/>
    </p:embeddedFont>
  </p:embeddedFontLst>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4" d="100"/>
          <a:sy n="54" d="100"/>
        </p:scale>
        <p:origin x="778"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6A0C85-3213-4D26-8282-A0CD864DABC2}" type="datetimeFigureOut">
              <a:rPr lang="es-MX" smtClean="0"/>
              <a:t>13/06/2026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EFAEE-F050-4A98-90F4-6AA2137146F3}" type="slidenum">
              <a:rPr lang="es-MX" smtClean="0"/>
              <a:t>‹Nº›</a:t>
            </a:fld>
            <a:endParaRPr lang="es-MX"/>
          </a:p>
        </p:txBody>
      </p:sp>
    </p:spTree>
    <p:extLst>
      <p:ext uri="{BB962C8B-B14F-4D97-AF65-F5344CB8AC3E}">
        <p14:creationId xmlns:p14="http://schemas.microsoft.com/office/powerpoint/2010/main" val="377383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1E9EFAEE-F050-4A98-90F4-6AA2137146F3}" type="slidenum">
              <a:rPr lang="es-MX" smtClean="0"/>
              <a:t>27</a:t>
            </a:fld>
            <a:endParaRPr lang="es-MX"/>
          </a:p>
        </p:txBody>
      </p:sp>
    </p:spTree>
    <p:extLst>
      <p:ext uri="{BB962C8B-B14F-4D97-AF65-F5344CB8AC3E}">
        <p14:creationId xmlns:p14="http://schemas.microsoft.com/office/powerpoint/2010/main" val="1747973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‹Nº›</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github.com/Alan-Rodriguez0/TBD-Unidad-6.git"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42422" y="1393317"/>
            <a:ext cx="15203156" cy="8653392"/>
          </a:xfrm>
          <a:prstGeom prst="rect">
            <a:avLst/>
          </a:prstGeom>
        </p:spPr>
        <p:txBody>
          <a:bodyPr lIns="0" tIns="0" rIns="0" bIns="0" rtlCol="0" anchor="t">
            <a:spAutoFit/>
          </a:bodyPr>
          <a:lstStyle/>
          <a:p>
            <a:pPr algn="ctr">
              <a:lnSpc>
                <a:spcPts val="2525"/>
              </a:lnSpc>
            </a:pPr>
            <a:r>
              <a:rPr lang="en-US" sz="1829" spc="179" dirty="0">
                <a:solidFill>
                  <a:srgbClr val="152540"/>
                </a:solidFill>
                <a:latin typeface="Montserrat Light"/>
                <a:ea typeface="Montserrat Light"/>
                <a:cs typeface="Montserrat Light"/>
                <a:sym typeface="Montserrat Light"/>
              </a:rPr>
              <a:t> </a:t>
            </a:r>
            <a:r>
              <a:rPr lang="en-US" sz="1829" b="1" spc="179" dirty="0">
                <a:solidFill>
                  <a:srgbClr val="152540"/>
                </a:solidFill>
                <a:latin typeface="Montserrat Light Bold"/>
                <a:ea typeface="Montserrat Light Bold"/>
                <a:cs typeface="Montserrat Light Bold"/>
                <a:sym typeface="Montserrat Light Bold"/>
              </a:rPr>
              <a:t> </a:t>
            </a:r>
            <a:r>
              <a:rPr lang="en-US" sz="1829" b="1" spc="179" dirty="0" err="1">
                <a:solidFill>
                  <a:srgbClr val="152540"/>
                </a:solidFill>
                <a:latin typeface="Montserrat Light Bold"/>
                <a:ea typeface="Montserrat Light Bold"/>
                <a:cs typeface="Montserrat Light Bold"/>
                <a:sym typeface="Montserrat Light Bold"/>
              </a:rPr>
              <a:t>Tecnológico</a:t>
            </a:r>
            <a:r>
              <a:rPr lang="en-US" sz="1829" b="1" spc="179" dirty="0">
                <a:solidFill>
                  <a:srgbClr val="152540"/>
                </a:solidFill>
                <a:latin typeface="Montserrat Light Bold"/>
                <a:ea typeface="Montserrat Light Bold"/>
                <a:cs typeface="Montserrat Light Bold"/>
                <a:sym typeface="Montserrat Light Bold"/>
              </a:rPr>
              <a:t> Nacional de México</a:t>
            </a:r>
          </a:p>
          <a:p>
            <a:pPr algn="ctr">
              <a:lnSpc>
                <a:spcPts val="2525"/>
              </a:lnSpc>
            </a:pPr>
            <a:r>
              <a:rPr lang="en-US" sz="1829" b="1" spc="179" dirty="0">
                <a:solidFill>
                  <a:srgbClr val="152540"/>
                </a:solidFill>
                <a:latin typeface="Montserrat Light Bold"/>
                <a:ea typeface="Montserrat Light Bold"/>
                <a:cs typeface="Montserrat Light Bold"/>
                <a:sym typeface="Montserrat Light Bold"/>
              </a:rPr>
              <a:t>Instituto </a:t>
            </a:r>
            <a:r>
              <a:rPr lang="en-US" sz="1829" b="1" spc="179" dirty="0" err="1">
                <a:solidFill>
                  <a:srgbClr val="152540"/>
                </a:solidFill>
                <a:latin typeface="Montserrat Light Bold"/>
                <a:ea typeface="Montserrat Light Bold"/>
                <a:cs typeface="Montserrat Light Bold"/>
                <a:sym typeface="Montserrat Light Bold"/>
              </a:rPr>
              <a:t>Tecnológico</a:t>
            </a:r>
            <a:r>
              <a:rPr lang="en-US" sz="1829" b="1" spc="179" dirty="0">
                <a:solidFill>
                  <a:srgbClr val="152540"/>
                </a:solidFill>
                <a:latin typeface="Montserrat Light Bold"/>
                <a:ea typeface="Montserrat Light Bold"/>
                <a:cs typeface="Montserrat Light Bold"/>
                <a:sym typeface="Montserrat Light Bold"/>
              </a:rPr>
              <a:t> de Frontera </a:t>
            </a:r>
            <a:r>
              <a:rPr lang="en-US" sz="1829" b="1" spc="179" dirty="0" err="1">
                <a:solidFill>
                  <a:srgbClr val="152540"/>
                </a:solidFill>
                <a:latin typeface="Montserrat Light Bold"/>
                <a:ea typeface="Montserrat Light Bold"/>
                <a:cs typeface="Montserrat Light Bold"/>
                <a:sym typeface="Montserrat Light Bold"/>
              </a:rPr>
              <a:t>Comalapa</a:t>
            </a:r>
            <a:endParaRPr lang="en-US" sz="1829" b="1" spc="179" dirty="0">
              <a:solidFill>
                <a:srgbClr val="152540"/>
              </a:solidFill>
              <a:latin typeface="Montserrat Light Bold"/>
              <a:ea typeface="Montserrat Light Bold"/>
              <a:cs typeface="Montserrat Light Bold"/>
              <a:sym typeface="Montserrat Light Bold"/>
            </a:endParaRPr>
          </a:p>
          <a:p>
            <a:pPr algn="ctr">
              <a:lnSpc>
                <a:spcPts val="2525"/>
              </a:lnSpc>
            </a:pPr>
            <a:endParaRPr lang="en-US" sz="1829" b="1" spc="179" dirty="0">
              <a:solidFill>
                <a:srgbClr val="152540"/>
              </a:solidFill>
              <a:latin typeface="Montserrat Light Bold"/>
              <a:ea typeface="Montserrat Light Bold"/>
              <a:cs typeface="Montserrat Light Bold"/>
              <a:sym typeface="Montserrat Light Bold"/>
            </a:endParaRPr>
          </a:p>
          <a:p>
            <a:pPr algn="ctr">
              <a:lnSpc>
                <a:spcPts val="2525"/>
              </a:lnSpc>
            </a:pPr>
            <a:r>
              <a:rPr lang="en-US" sz="1829" b="1" spc="179" dirty="0">
                <a:solidFill>
                  <a:srgbClr val="152540"/>
                </a:solidFill>
                <a:latin typeface="Montserrat Light Bold"/>
                <a:ea typeface="Montserrat Light Bold"/>
                <a:cs typeface="Montserrat Light Bold"/>
                <a:sym typeface="Montserrat Light Bold"/>
              </a:rPr>
              <a:t>Carrera:</a:t>
            </a:r>
          </a:p>
          <a:p>
            <a:pPr algn="ctr">
              <a:lnSpc>
                <a:spcPts val="2525"/>
              </a:lnSpc>
            </a:pPr>
            <a:r>
              <a:rPr lang="en-US" sz="1829" spc="179" dirty="0" err="1">
                <a:solidFill>
                  <a:srgbClr val="152540"/>
                </a:solidFill>
                <a:latin typeface="Montserrat Light"/>
                <a:ea typeface="Montserrat Light"/>
                <a:cs typeface="Montserrat Light"/>
                <a:sym typeface="Montserrat Light"/>
              </a:rPr>
              <a:t>Ingeniería</a:t>
            </a:r>
            <a:r>
              <a:rPr lang="en-US" sz="1829" spc="179" dirty="0">
                <a:solidFill>
                  <a:srgbClr val="152540"/>
                </a:solidFill>
                <a:latin typeface="Montserrat Light"/>
                <a:ea typeface="Montserrat Light"/>
                <a:cs typeface="Montserrat Light"/>
                <a:sym typeface="Montserrat Light"/>
              </a:rPr>
              <a:t> </a:t>
            </a:r>
            <a:r>
              <a:rPr lang="en-US" sz="1829" spc="179" dirty="0" err="1">
                <a:solidFill>
                  <a:srgbClr val="152540"/>
                </a:solidFill>
                <a:latin typeface="Montserrat Light"/>
                <a:ea typeface="Montserrat Light"/>
                <a:cs typeface="Montserrat Light"/>
                <a:sym typeface="Montserrat Light"/>
              </a:rPr>
              <a:t>en</a:t>
            </a:r>
            <a:r>
              <a:rPr lang="en-US" sz="1829" spc="179" dirty="0">
                <a:solidFill>
                  <a:srgbClr val="152540"/>
                </a:solidFill>
                <a:latin typeface="Montserrat Light"/>
                <a:ea typeface="Montserrat Light"/>
                <a:cs typeface="Montserrat Light"/>
                <a:sym typeface="Montserrat Light"/>
              </a:rPr>
              <a:t> </a:t>
            </a:r>
            <a:r>
              <a:rPr lang="en-US" sz="1829" spc="179" dirty="0" err="1">
                <a:solidFill>
                  <a:srgbClr val="152540"/>
                </a:solidFill>
                <a:latin typeface="Montserrat Light"/>
                <a:ea typeface="Montserrat Light"/>
                <a:cs typeface="Montserrat Light"/>
                <a:sym typeface="Montserrat Light"/>
              </a:rPr>
              <a:t>Sistemas</a:t>
            </a:r>
            <a:r>
              <a:rPr lang="en-US" sz="1829" spc="179" dirty="0">
                <a:solidFill>
                  <a:srgbClr val="152540"/>
                </a:solidFill>
                <a:latin typeface="Montserrat Light"/>
                <a:ea typeface="Montserrat Light"/>
                <a:cs typeface="Montserrat Light"/>
                <a:sym typeface="Montserrat Light"/>
              </a:rPr>
              <a:t> </a:t>
            </a:r>
            <a:r>
              <a:rPr lang="en-US" sz="1829" spc="179" dirty="0" err="1">
                <a:solidFill>
                  <a:srgbClr val="152540"/>
                </a:solidFill>
                <a:latin typeface="Montserrat Light"/>
                <a:ea typeface="Montserrat Light"/>
                <a:cs typeface="Montserrat Light"/>
                <a:sym typeface="Montserrat Light"/>
              </a:rPr>
              <a:t>Computacionales</a:t>
            </a:r>
            <a:endParaRPr lang="en-US" sz="1829" spc="179" dirty="0">
              <a:solidFill>
                <a:srgbClr val="152540"/>
              </a:solidFill>
              <a:latin typeface="Montserrat Light"/>
              <a:ea typeface="Montserrat Light"/>
              <a:cs typeface="Montserrat Light"/>
              <a:sym typeface="Montserrat Light"/>
            </a:endParaRP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a:solidFill>
                  <a:srgbClr val="152540"/>
                </a:solidFill>
                <a:latin typeface="Montserrat Light Bold"/>
                <a:ea typeface="Montserrat Light Bold"/>
                <a:cs typeface="Montserrat Light Bold"/>
                <a:sym typeface="Montserrat Light Bold"/>
              </a:rPr>
              <a:t>Materia:</a:t>
            </a:r>
          </a:p>
          <a:p>
            <a:pPr algn="ctr">
              <a:lnSpc>
                <a:spcPts val="2525"/>
              </a:lnSpc>
            </a:pPr>
            <a:r>
              <a:rPr lang="en-US" sz="1829" spc="179" dirty="0" err="1">
                <a:solidFill>
                  <a:srgbClr val="152540"/>
                </a:solidFill>
                <a:latin typeface="Montserrat Light"/>
                <a:ea typeface="Montserrat Light"/>
                <a:cs typeface="Montserrat Light"/>
                <a:sym typeface="Montserrat Light"/>
              </a:rPr>
              <a:t>Administración</a:t>
            </a:r>
            <a:r>
              <a:rPr lang="en-US" sz="1829" spc="179" dirty="0">
                <a:solidFill>
                  <a:srgbClr val="152540"/>
                </a:solidFill>
                <a:latin typeface="Montserrat Light"/>
                <a:ea typeface="Montserrat Light"/>
                <a:cs typeface="Montserrat Light"/>
                <a:sym typeface="Montserrat Light"/>
              </a:rPr>
              <a:t> de base de </a:t>
            </a:r>
            <a:r>
              <a:rPr lang="en-US" sz="1829" spc="179" dirty="0" err="1">
                <a:solidFill>
                  <a:srgbClr val="152540"/>
                </a:solidFill>
                <a:latin typeface="Montserrat Light"/>
                <a:ea typeface="Montserrat Light"/>
                <a:cs typeface="Montserrat Light"/>
                <a:sym typeface="Montserrat Light"/>
              </a:rPr>
              <a:t>Datos</a:t>
            </a:r>
            <a:endParaRPr lang="en-US" sz="1829" spc="179" dirty="0">
              <a:solidFill>
                <a:srgbClr val="152540"/>
              </a:solidFill>
              <a:latin typeface="Montserrat Light"/>
              <a:ea typeface="Montserrat Light"/>
              <a:cs typeface="Montserrat Light"/>
              <a:sym typeface="Montserrat Light"/>
            </a:endParaRP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err="1">
                <a:solidFill>
                  <a:srgbClr val="152540"/>
                </a:solidFill>
                <a:latin typeface="Montserrat Light Bold"/>
                <a:ea typeface="Montserrat Light Bold"/>
                <a:cs typeface="Montserrat Light Bold"/>
                <a:sym typeface="Montserrat Light Bold"/>
              </a:rPr>
              <a:t>Reporte</a:t>
            </a:r>
            <a:r>
              <a:rPr lang="en-US" sz="1829" b="1" spc="179" dirty="0">
                <a:solidFill>
                  <a:srgbClr val="152540"/>
                </a:solidFill>
                <a:latin typeface="Montserrat Light Bold"/>
                <a:ea typeface="Montserrat Light Bold"/>
                <a:cs typeface="Montserrat Light Bold"/>
                <a:sym typeface="Montserrat Light Bold"/>
              </a:rPr>
              <a:t> de </a:t>
            </a:r>
            <a:r>
              <a:rPr lang="en-US" sz="1829" b="1" spc="179" dirty="0" err="1">
                <a:solidFill>
                  <a:srgbClr val="152540"/>
                </a:solidFill>
                <a:latin typeface="Montserrat Light Bold"/>
                <a:ea typeface="Montserrat Light Bold"/>
                <a:cs typeface="Montserrat Light Bold"/>
                <a:sym typeface="Montserrat Light Bold"/>
              </a:rPr>
              <a:t>práctica</a:t>
            </a:r>
            <a:r>
              <a:rPr lang="en-US" sz="1829" b="1" spc="179" dirty="0">
                <a:solidFill>
                  <a:srgbClr val="152540"/>
                </a:solidFill>
                <a:latin typeface="Montserrat Light Bold"/>
                <a:ea typeface="Montserrat Light Bold"/>
                <a:cs typeface="Montserrat Light Bold"/>
                <a:sym typeface="Montserrat Light Bold"/>
              </a:rPr>
              <a:t>:</a:t>
            </a:r>
          </a:p>
          <a:p>
            <a:pPr algn="ctr">
              <a:lnSpc>
                <a:spcPts val="2525"/>
              </a:lnSpc>
            </a:pPr>
            <a:r>
              <a:rPr lang="en-US" sz="1829" spc="179" dirty="0" err="1">
                <a:solidFill>
                  <a:srgbClr val="152540"/>
                </a:solidFill>
                <a:latin typeface="Montserrat Light"/>
                <a:ea typeface="Montserrat Light"/>
                <a:cs typeface="Montserrat Light"/>
                <a:sym typeface="Montserrat Light"/>
              </a:rPr>
              <a:t>Consumo</a:t>
            </a:r>
            <a:r>
              <a:rPr lang="en-US" sz="1829" spc="179" dirty="0">
                <a:solidFill>
                  <a:srgbClr val="152540"/>
                </a:solidFill>
                <a:latin typeface="Montserrat Light"/>
                <a:ea typeface="Montserrat Light"/>
                <a:cs typeface="Montserrat Light"/>
                <a:sym typeface="Montserrat Light"/>
              </a:rPr>
              <a:t> de </a:t>
            </a:r>
            <a:r>
              <a:rPr lang="en-US" sz="1829" spc="179" dirty="0" err="1">
                <a:solidFill>
                  <a:srgbClr val="152540"/>
                </a:solidFill>
                <a:latin typeface="Montserrat Light"/>
                <a:ea typeface="Montserrat Light"/>
                <a:cs typeface="Montserrat Light"/>
                <a:sym typeface="Montserrat Light"/>
              </a:rPr>
              <a:t>microservicios</a:t>
            </a:r>
            <a:r>
              <a:rPr lang="en-US" sz="1829" spc="179" dirty="0">
                <a:solidFill>
                  <a:srgbClr val="152540"/>
                </a:solidFill>
                <a:latin typeface="Montserrat Light"/>
                <a:ea typeface="Montserrat Light"/>
                <a:cs typeface="Montserrat Light"/>
                <a:sym typeface="Montserrat Light"/>
              </a:rPr>
              <a:t> con Angular</a:t>
            </a: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err="1">
                <a:solidFill>
                  <a:srgbClr val="152540"/>
                </a:solidFill>
                <a:latin typeface="Montserrat Light Bold"/>
                <a:ea typeface="Montserrat Light Bold"/>
                <a:cs typeface="Montserrat Light Bold"/>
                <a:sym typeface="Montserrat Light Bold"/>
              </a:rPr>
              <a:t>Docente</a:t>
            </a:r>
            <a:r>
              <a:rPr lang="en-US" sz="1829" b="1" spc="179" dirty="0">
                <a:solidFill>
                  <a:srgbClr val="152540"/>
                </a:solidFill>
                <a:latin typeface="Montserrat Light Bold"/>
                <a:ea typeface="Montserrat Light Bold"/>
                <a:cs typeface="Montserrat Light Bold"/>
                <a:sym typeface="Montserrat Light Bold"/>
              </a:rPr>
              <a:t>:</a:t>
            </a:r>
          </a:p>
          <a:p>
            <a:pPr algn="ctr">
              <a:lnSpc>
                <a:spcPts val="2525"/>
              </a:lnSpc>
            </a:pPr>
            <a:r>
              <a:rPr lang="en-US" sz="1829" spc="179" dirty="0">
                <a:solidFill>
                  <a:srgbClr val="152540"/>
                </a:solidFill>
                <a:latin typeface="Montserrat Light"/>
                <a:ea typeface="Montserrat Light"/>
                <a:cs typeface="Montserrat Light"/>
                <a:sym typeface="Montserrat Light"/>
              </a:rPr>
              <a:t>Ing. Francisco Javier Mingo Velázquez</a:t>
            </a: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err="1">
                <a:solidFill>
                  <a:srgbClr val="152540"/>
                </a:solidFill>
                <a:latin typeface="Montserrat Light Bold"/>
                <a:ea typeface="Montserrat Light Bold"/>
                <a:cs typeface="Montserrat Light Bold"/>
                <a:sym typeface="Montserrat Light Bold"/>
              </a:rPr>
              <a:t>Estudiante</a:t>
            </a:r>
            <a:r>
              <a:rPr lang="en-US" sz="1829" b="1" spc="179" dirty="0">
                <a:solidFill>
                  <a:srgbClr val="152540"/>
                </a:solidFill>
                <a:latin typeface="Montserrat Light Bold"/>
                <a:ea typeface="Montserrat Light Bold"/>
                <a:cs typeface="Montserrat Light Bold"/>
                <a:sym typeface="Montserrat Light Bold"/>
              </a:rPr>
              <a:t>:</a:t>
            </a:r>
          </a:p>
          <a:p>
            <a:pPr algn="ctr">
              <a:lnSpc>
                <a:spcPts val="2525"/>
              </a:lnSpc>
            </a:pPr>
            <a:r>
              <a:rPr lang="en-US" sz="1829" spc="179" dirty="0">
                <a:solidFill>
                  <a:srgbClr val="152540"/>
                </a:solidFill>
                <a:latin typeface="Montserrat Light"/>
                <a:ea typeface="Montserrat Light"/>
                <a:cs typeface="Montserrat Light"/>
                <a:sym typeface="Montserrat Light"/>
              </a:rPr>
              <a:t>Alan Eduardo Rodríguez Silvestre</a:t>
            </a: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err="1">
                <a:solidFill>
                  <a:srgbClr val="152540"/>
                </a:solidFill>
                <a:latin typeface="Montserrat Light Bold"/>
                <a:ea typeface="Montserrat Light Bold"/>
                <a:cs typeface="Montserrat Light Bold"/>
                <a:sym typeface="Montserrat Light Bold"/>
              </a:rPr>
              <a:t>Número</a:t>
            </a:r>
            <a:r>
              <a:rPr lang="en-US" sz="1829" b="1" spc="179" dirty="0">
                <a:solidFill>
                  <a:srgbClr val="152540"/>
                </a:solidFill>
                <a:latin typeface="Montserrat Light Bold"/>
                <a:ea typeface="Montserrat Light Bold"/>
                <a:cs typeface="Montserrat Light Bold"/>
                <a:sym typeface="Montserrat Light Bold"/>
              </a:rPr>
              <a:t> de control:</a:t>
            </a:r>
          </a:p>
          <a:p>
            <a:pPr algn="ctr">
              <a:lnSpc>
                <a:spcPts val="2525"/>
              </a:lnSpc>
            </a:pPr>
            <a:r>
              <a:rPr lang="en-US" sz="1829" spc="179" dirty="0">
                <a:solidFill>
                  <a:srgbClr val="152540"/>
                </a:solidFill>
                <a:latin typeface="Montserrat Light"/>
                <a:ea typeface="Montserrat Light"/>
                <a:cs typeface="Montserrat Light"/>
                <a:sym typeface="Montserrat Light"/>
              </a:rPr>
              <a:t>221260062</a:t>
            </a: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err="1">
                <a:solidFill>
                  <a:srgbClr val="152540"/>
                </a:solidFill>
                <a:latin typeface="Montserrat Light Bold"/>
                <a:ea typeface="Montserrat Light Bold"/>
                <a:cs typeface="Montserrat Light Bold"/>
                <a:sym typeface="Montserrat Light Bold"/>
              </a:rPr>
              <a:t>Semestre</a:t>
            </a:r>
            <a:r>
              <a:rPr lang="en-US" sz="1829" b="1" spc="179" dirty="0">
                <a:solidFill>
                  <a:srgbClr val="152540"/>
                </a:solidFill>
                <a:latin typeface="Montserrat Light Bold"/>
                <a:ea typeface="Montserrat Light Bold"/>
                <a:cs typeface="Montserrat Light Bold"/>
                <a:sym typeface="Montserrat Light Bold"/>
              </a:rPr>
              <a:t>: </a:t>
            </a:r>
          </a:p>
          <a:p>
            <a:pPr algn="ctr">
              <a:lnSpc>
                <a:spcPts val="2525"/>
              </a:lnSpc>
            </a:pPr>
            <a:r>
              <a:rPr lang="en-US" sz="1829" spc="179" dirty="0">
                <a:solidFill>
                  <a:srgbClr val="152540"/>
                </a:solidFill>
                <a:latin typeface="Montserrat Light"/>
                <a:ea typeface="Montserrat Light"/>
                <a:cs typeface="Montserrat Light"/>
                <a:sym typeface="Montserrat Light"/>
              </a:rPr>
              <a:t>6°</a:t>
            </a:r>
          </a:p>
          <a:p>
            <a:pPr algn="ctr">
              <a:lnSpc>
                <a:spcPts val="2525"/>
              </a:lnSpc>
            </a:pPr>
            <a:endParaRPr lang="en-US" sz="1829" spc="179" dirty="0">
              <a:solidFill>
                <a:srgbClr val="152540"/>
              </a:solidFill>
              <a:latin typeface="Montserrat Light"/>
              <a:ea typeface="Montserrat Light"/>
              <a:cs typeface="Montserrat Light"/>
              <a:sym typeface="Montserrat Light"/>
            </a:endParaRPr>
          </a:p>
          <a:p>
            <a:pPr algn="ctr">
              <a:lnSpc>
                <a:spcPts val="2525"/>
              </a:lnSpc>
            </a:pPr>
            <a:r>
              <a:rPr lang="en-US" sz="1829" b="1" spc="179" dirty="0" err="1">
                <a:solidFill>
                  <a:srgbClr val="152540"/>
                </a:solidFill>
                <a:latin typeface="Montserrat Light Bold"/>
                <a:ea typeface="Montserrat Light Bold"/>
                <a:cs typeface="Montserrat Light Bold"/>
                <a:sym typeface="Montserrat Light Bold"/>
              </a:rPr>
              <a:t>Fecha</a:t>
            </a:r>
            <a:r>
              <a:rPr lang="en-US" sz="1829" b="1" spc="179" dirty="0">
                <a:solidFill>
                  <a:srgbClr val="152540"/>
                </a:solidFill>
                <a:latin typeface="Montserrat Light Bold"/>
                <a:ea typeface="Montserrat Light Bold"/>
                <a:cs typeface="Montserrat Light Bold"/>
                <a:sym typeface="Montserrat Light Bold"/>
              </a:rPr>
              <a:t> de </a:t>
            </a:r>
            <a:r>
              <a:rPr lang="en-US" sz="1829" b="1" spc="179" dirty="0" err="1">
                <a:solidFill>
                  <a:srgbClr val="152540"/>
                </a:solidFill>
                <a:latin typeface="Montserrat Light Bold"/>
                <a:ea typeface="Montserrat Light Bold"/>
                <a:cs typeface="Montserrat Light Bold"/>
                <a:sym typeface="Montserrat Light Bold"/>
              </a:rPr>
              <a:t>entrega</a:t>
            </a:r>
            <a:r>
              <a:rPr lang="en-US" sz="1829" b="1" spc="179" dirty="0">
                <a:solidFill>
                  <a:srgbClr val="152540"/>
                </a:solidFill>
                <a:latin typeface="Montserrat Light Bold"/>
                <a:ea typeface="Montserrat Light Bold"/>
                <a:cs typeface="Montserrat Light Bold"/>
                <a:sym typeface="Montserrat Light Bold"/>
              </a:rPr>
              <a:t>: </a:t>
            </a:r>
          </a:p>
          <a:p>
            <a:pPr algn="ctr">
              <a:lnSpc>
                <a:spcPts val="2525"/>
              </a:lnSpc>
            </a:pPr>
            <a:r>
              <a:rPr lang="en-US" sz="1829" spc="179" dirty="0">
                <a:solidFill>
                  <a:srgbClr val="152540"/>
                </a:solidFill>
                <a:latin typeface="Montserrat Light"/>
                <a:ea typeface="Montserrat Light"/>
                <a:cs typeface="Montserrat Light"/>
                <a:sym typeface="Montserrat Light"/>
              </a:rPr>
              <a:t>07 de </a:t>
            </a:r>
            <a:r>
              <a:rPr lang="en-US" sz="1829" spc="179" dirty="0" err="1">
                <a:solidFill>
                  <a:srgbClr val="152540"/>
                </a:solidFill>
                <a:latin typeface="Montserrat Light"/>
                <a:ea typeface="Montserrat Light"/>
                <a:cs typeface="Montserrat Light"/>
                <a:sym typeface="Montserrat Light"/>
              </a:rPr>
              <a:t>junio</a:t>
            </a:r>
            <a:r>
              <a:rPr lang="en-US" sz="1829" spc="179" dirty="0">
                <a:solidFill>
                  <a:srgbClr val="152540"/>
                </a:solidFill>
                <a:latin typeface="Montserrat Light"/>
                <a:ea typeface="Montserrat Light"/>
                <a:cs typeface="Montserrat Light"/>
                <a:sym typeface="Montserrat Light"/>
              </a:rPr>
              <a:t> del 2026</a:t>
            </a:r>
          </a:p>
          <a:p>
            <a:pPr algn="l">
              <a:lnSpc>
                <a:spcPts val="2658"/>
              </a:lnSpc>
            </a:pPr>
            <a:endParaRPr lang="en-US" sz="1829" spc="179" dirty="0">
              <a:solidFill>
                <a:srgbClr val="152540"/>
              </a:solidFill>
              <a:latin typeface="Montserrat Light"/>
              <a:ea typeface="Montserrat Light"/>
              <a:cs typeface="Montserrat Light"/>
              <a:sym typeface="Montserrat Light"/>
            </a:endParaRPr>
          </a:p>
        </p:txBody>
      </p:sp>
      <p:sp>
        <p:nvSpPr>
          <p:cNvPr id="3" name="Freeform 3"/>
          <p:cNvSpPr/>
          <p:nvPr/>
        </p:nvSpPr>
        <p:spPr>
          <a:xfrm>
            <a:off x="1474000" y="197121"/>
            <a:ext cx="4491635" cy="1006559"/>
          </a:xfrm>
          <a:custGeom>
            <a:avLst/>
            <a:gdLst/>
            <a:ahLst/>
            <a:cxnLst/>
            <a:rect l="l" t="t" r="r" b="b"/>
            <a:pathLst>
              <a:path w="4491635" h="1006559">
                <a:moveTo>
                  <a:pt x="0" y="0"/>
                </a:moveTo>
                <a:lnTo>
                  <a:pt x="4491635" y="0"/>
                </a:lnTo>
                <a:lnTo>
                  <a:pt x="4491635" y="1006559"/>
                </a:lnTo>
                <a:lnTo>
                  <a:pt x="0" y="1006559"/>
                </a:lnTo>
                <a:lnTo>
                  <a:pt x="0" y="0"/>
                </a:lnTo>
                <a:close/>
              </a:path>
            </a:pathLst>
          </a:custGeom>
          <a:blipFill>
            <a:blip r:embed="rId2"/>
            <a:stretch>
              <a:fillRect/>
            </a:stretch>
          </a:blipFill>
        </p:spPr>
        <p:txBody>
          <a:bodyPr/>
          <a:lstStyle/>
          <a:p>
            <a:endParaRPr/>
          </a:p>
        </p:txBody>
      </p:sp>
      <p:sp>
        <p:nvSpPr>
          <p:cNvPr id="4" name="Freeform 4"/>
          <p:cNvSpPr/>
          <p:nvPr/>
        </p:nvSpPr>
        <p:spPr>
          <a:xfrm>
            <a:off x="7962946" y="197121"/>
            <a:ext cx="2362107" cy="1156448"/>
          </a:xfrm>
          <a:custGeom>
            <a:avLst/>
            <a:gdLst/>
            <a:ahLst/>
            <a:cxnLst/>
            <a:rect l="l" t="t" r="r" b="b"/>
            <a:pathLst>
              <a:path w="2362107" h="1156448">
                <a:moveTo>
                  <a:pt x="0" y="0"/>
                </a:moveTo>
                <a:lnTo>
                  <a:pt x="2362108" y="0"/>
                </a:lnTo>
                <a:lnTo>
                  <a:pt x="2362108" y="1156448"/>
                </a:lnTo>
                <a:lnTo>
                  <a:pt x="0" y="1156448"/>
                </a:lnTo>
                <a:lnTo>
                  <a:pt x="0" y="0"/>
                </a:lnTo>
                <a:close/>
              </a:path>
            </a:pathLst>
          </a:custGeom>
          <a:blipFill>
            <a:blip r:embed="rId3"/>
            <a:stretch>
              <a:fillRect/>
            </a:stretch>
          </a:blipFill>
        </p:spPr>
        <p:txBody>
          <a:bodyPr/>
          <a:lstStyle/>
          <a:p>
            <a:endParaRPr/>
          </a:p>
        </p:txBody>
      </p:sp>
      <p:sp>
        <p:nvSpPr>
          <p:cNvPr id="5" name="Freeform 5"/>
          <p:cNvSpPr/>
          <p:nvPr/>
        </p:nvSpPr>
        <p:spPr>
          <a:xfrm>
            <a:off x="15344547" y="197121"/>
            <a:ext cx="1878990" cy="1371547"/>
          </a:xfrm>
          <a:custGeom>
            <a:avLst/>
            <a:gdLst/>
            <a:ahLst/>
            <a:cxnLst/>
            <a:rect l="l" t="t" r="r" b="b"/>
            <a:pathLst>
              <a:path w="1878989" h="1371547">
                <a:moveTo>
                  <a:pt x="0" y="0"/>
                </a:moveTo>
                <a:lnTo>
                  <a:pt x="1878991" y="0"/>
                </a:lnTo>
                <a:lnTo>
                  <a:pt x="1878991" y="1371547"/>
                </a:lnTo>
                <a:lnTo>
                  <a:pt x="0" y="1371547"/>
                </a:lnTo>
                <a:lnTo>
                  <a:pt x="0" y="0"/>
                </a:lnTo>
                <a:close/>
              </a:path>
            </a:pathLst>
          </a:custGeom>
          <a:blipFill>
            <a:blip r:embed="rId4"/>
            <a:stretch>
              <a:fillRect b="-11976"/>
            </a:stretch>
          </a:blipFill>
        </p:spPr>
        <p:txBody>
          <a:bodyPr/>
          <a:lstStyle/>
          <a:p>
            <a:endParaRPr/>
          </a:p>
        </p:txBody>
      </p:sp>
      <p:grpSp>
        <p:nvGrpSpPr>
          <p:cNvPr id="6" name="Group 6"/>
          <p:cNvGrpSpPr/>
          <p:nvPr/>
        </p:nvGrpSpPr>
        <p:grpSpPr>
          <a:xfrm>
            <a:off x="17259300" y="9258300"/>
            <a:ext cx="525494" cy="520700"/>
            <a:chOff x="0" y="0"/>
            <a:chExt cx="700659" cy="694267"/>
          </a:xfrm>
        </p:grpSpPr>
        <p:grpSp>
          <p:nvGrpSpPr>
            <p:cNvPr id="7" name="Group 7"/>
            <p:cNvGrpSpPr/>
            <p:nvPr/>
          </p:nvGrpSpPr>
          <p:grpSpPr>
            <a:xfrm>
              <a:off x="0" y="0"/>
              <a:ext cx="700659" cy="694267"/>
              <a:chOff x="0" y="0"/>
              <a:chExt cx="138402" cy="137139"/>
            </a:xfrm>
          </p:grpSpPr>
          <p:sp>
            <p:nvSpPr>
              <p:cNvPr id="8" name="Freeform 8"/>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9" name="TextBox 9"/>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10" name="TextBox 10"/>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a:t>
              </a: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81655" y="266699"/>
            <a:ext cx="8324690" cy="762001"/>
          </a:xfrm>
          <a:prstGeom prst="rect">
            <a:avLst/>
          </a:prstGeom>
        </p:spPr>
        <p:txBody>
          <a:bodyPr lIns="0" tIns="0" rIns="0" bIns="0" rtlCol="0" anchor="t">
            <a:spAutoFit/>
          </a:bodyPr>
          <a:lstStyle/>
          <a:p>
            <a:pPr algn="ctr">
              <a:lnSpc>
                <a:spcPts val="6299"/>
              </a:lnSpc>
            </a:pPr>
            <a:r>
              <a:rPr lang="en-US" sz="4499" b="1" spc="422">
                <a:solidFill>
                  <a:srgbClr val="152540"/>
                </a:solidFill>
                <a:latin typeface="Glacial Indifference Bold"/>
                <a:ea typeface="Glacial Indifference Bold"/>
                <a:cs typeface="Glacial Indifference Bold"/>
                <a:sym typeface="Glacial Indifference Bold"/>
              </a:rPr>
              <a:t>INDICE</a:t>
            </a:r>
          </a:p>
        </p:txBody>
      </p:sp>
      <p:sp>
        <p:nvSpPr>
          <p:cNvPr id="3" name="TextBox 3"/>
          <p:cNvSpPr txBox="1"/>
          <p:nvPr/>
        </p:nvSpPr>
        <p:spPr>
          <a:xfrm>
            <a:off x="1028700" y="1098550"/>
            <a:ext cx="16230600" cy="8617744"/>
          </a:xfrm>
          <a:prstGeom prst="rect">
            <a:avLst/>
          </a:prstGeom>
        </p:spPr>
        <p:txBody>
          <a:bodyPr lIns="0" tIns="0" rIns="0" bIns="0" rtlCol="0" anchor="t">
            <a:spAutoFit/>
          </a:bodyPr>
          <a:lstStyle/>
          <a:p>
            <a:pPr algn="just">
              <a:lnSpc>
                <a:spcPts val="3150"/>
              </a:lnSpc>
            </a:pPr>
            <a:r>
              <a:rPr lang="en-US" sz="3000" dirty="0" err="1">
                <a:solidFill>
                  <a:srgbClr val="253754"/>
                </a:solidFill>
                <a:latin typeface="Glacial Indifference"/>
                <a:ea typeface="Glacial Indifference"/>
                <a:cs typeface="Glacial Indifference"/>
                <a:sym typeface="Glacial Indifference"/>
              </a:rPr>
              <a:t>Introducción</a:t>
            </a:r>
            <a:r>
              <a:rPr lang="en-US" sz="3000" dirty="0">
                <a:solidFill>
                  <a:srgbClr val="253754"/>
                </a:solidFill>
                <a:latin typeface="Glacial Indifference"/>
                <a:ea typeface="Glacial Indifference"/>
                <a:cs typeface="Glacial Indifference"/>
                <a:sym typeface="Glacial Indifference"/>
              </a:rPr>
              <a:t> ---------------------------------------------------------------------------------------- 3</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Justificación</a:t>
            </a:r>
            <a:r>
              <a:rPr lang="en-US" sz="3000" dirty="0">
                <a:solidFill>
                  <a:srgbClr val="253754"/>
                </a:solidFill>
                <a:latin typeface="Glacial Indifference"/>
                <a:ea typeface="Glacial Indifference"/>
                <a:cs typeface="Glacial Indifference"/>
                <a:sym typeface="Glacial Indifference"/>
              </a:rPr>
              <a:t> ---------------------------------------------------------------------------------------- 4</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Consumo</a:t>
            </a:r>
            <a:r>
              <a:rPr lang="en-US" sz="3000" dirty="0">
                <a:solidFill>
                  <a:srgbClr val="253754"/>
                </a:solidFill>
                <a:latin typeface="Glacial Indifference"/>
                <a:ea typeface="Glacial Indifference"/>
                <a:cs typeface="Glacial Indifference"/>
                <a:sym typeface="Glacial Indifference"/>
              </a:rPr>
              <a:t> de </a:t>
            </a:r>
            <a:r>
              <a:rPr lang="en-US" sz="3000" dirty="0" err="1">
                <a:solidFill>
                  <a:srgbClr val="253754"/>
                </a:solidFill>
                <a:latin typeface="Glacial Indifference"/>
                <a:ea typeface="Glacial Indifference"/>
                <a:cs typeface="Glacial Indifference"/>
                <a:sym typeface="Glacial Indifference"/>
              </a:rPr>
              <a:t>microservicios</a:t>
            </a:r>
            <a:r>
              <a:rPr lang="en-US" sz="3000" dirty="0">
                <a:solidFill>
                  <a:srgbClr val="253754"/>
                </a:solidFill>
                <a:latin typeface="Glacial Indifference"/>
                <a:ea typeface="Glacial Indifference"/>
                <a:cs typeface="Glacial Indifference"/>
                <a:sym typeface="Glacial Indifference"/>
              </a:rPr>
              <a:t> con Angular ----------------------------------------------------------- 5</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Creación</a:t>
            </a:r>
            <a:r>
              <a:rPr lang="en-US" sz="3000" dirty="0">
                <a:solidFill>
                  <a:srgbClr val="253754"/>
                </a:solidFill>
                <a:latin typeface="Glacial Indifference"/>
                <a:ea typeface="Glacial Indifference"/>
                <a:cs typeface="Glacial Indifference"/>
                <a:sym typeface="Glacial Indifference"/>
              </a:rPr>
              <a:t> de un </a:t>
            </a:r>
            <a:r>
              <a:rPr lang="en-US" sz="3000" dirty="0" err="1">
                <a:solidFill>
                  <a:srgbClr val="253754"/>
                </a:solidFill>
                <a:latin typeface="Glacial Indifference"/>
                <a:ea typeface="Glacial Indifference"/>
                <a:cs typeface="Glacial Indifference"/>
                <a:sym typeface="Glacial Indifference"/>
              </a:rPr>
              <a:t>proyecto</a:t>
            </a:r>
            <a:r>
              <a:rPr lang="en-US" sz="3000" dirty="0">
                <a:solidFill>
                  <a:srgbClr val="253754"/>
                </a:solidFill>
                <a:latin typeface="Glacial Indifference"/>
                <a:ea typeface="Glacial Indifference"/>
                <a:cs typeface="Glacial Indifference"/>
                <a:sym typeface="Glacial Indifference"/>
              </a:rPr>
              <a:t> </a:t>
            </a:r>
            <a:r>
              <a:rPr lang="en-US" sz="3000" dirty="0" err="1">
                <a:solidFill>
                  <a:srgbClr val="253754"/>
                </a:solidFill>
                <a:latin typeface="Glacial Indifference"/>
                <a:ea typeface="Glacial Indifference"/>
                <a:cs typeface="Glacial Indifference"/>
                <a:sym typeface="Glacial Indifference"/>
              </a:rPr>
              <a:t>en</a:t>
            </a:r>
            <a:r>
              <a:rPr lang="en-US" sz="3000" dirty="0">
                <a:solidFill>
                  <a:srgbClr val="253754"/>
                </a:solidFill>
                <a:latin typeface="Glacial Indifference"/>
                <a:ea typeface="Glacial Indifference"/>
                <a:cs typeface="Glacial Indifference"/>
                <a:sym typeface="Glacial Indifference"/>
              </a:rPr>
              <a:t> Angular --------------------------------------------------------------  6</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Programación</a:t>
            </a:r>
            <a:r>
              <a:rPr lang="en-US" sz="3000" dirty="0">
                <a:solidFill>
                  <a:srgbClr val="253754"/>
                </a:solidFill>
                <a:latin typeface="Glacial Indifference"/>
                <a:ea typeface="Glacial Indifference"/>
                <a:cs typeface="Glacial Indifference"/>
                <a:sym typeface="Glacial Indifference"/>
              </a:rPr>
              <a:t> del frontend -----------------------------------------------------------------------   15</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Pruebas</a:t>
            </a:r>
            <a:r>
              <a:rPr lang="en-US" sz="3000" dirty="0">
                <a:solidFill>
                  <a:srgbClr val="253754"/>
                </a:solidFill>
                <a:latin typeface="Glacial Indifference"/>
                <a:ea typeface="Glacial Indifference"/>
                <a:cs typeface="Glacial Indifference"/>
                <a:sym typeface="Glacial Indifference"/>
              </a:rPr>
              <a:t> del </a:t>
            </a:r>
            <a:r>
              <a:rPr lang="en-US" sz="3000" dirty="0" err="1">
                <a:solidFill>
                  <a:srgbClr val="253754"/>
                </a:solidFill>
                <a:latin typeface="Glacial Indifference"/>
                <a:ea typeface="Glacial Indifference"/>
                <a:cs typeface="Glacial Indifference"/>
                <a:sym typeface="Glacial Indifference"/>
              </a:rPr>
              <a:t>funcionamiento</a:t>
            </a:r>
            <a:r>
              <a:rPr lang="en-US" sz="3000" dirty="0">
                <a:solidFill>
                  <a:srgbClr val="253754"/>
                </a:solidFill>
                <a:latin typeface="Glacial Indifference"/>
                <a:ea typeface="Glacial Indifference"/>
                <a:cs typeface="Glacial Indifference"/>
                <a:sym typeface="Glacial Indifference"/>
              </a:rPr>
              <a:t> del frontend --------------------------------------------------------  27</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Conexión</a:t>
            </a:r>
            <a:r>
              <a:rPr lang="en-US" sz="3000" dirty="0">
                <a:solidFill>
                  <a:srgbClr val="253754"/>
                </a:solidFill>
                <a:latin typeface="Glacial Indifference"/>
                <a:ea typeface="Glacial Indifference"/>
                <a:cs typeface="Glacial Indifference"/>
                <a:sym typeface="Glacial Indifference"/>
              </a:rPr>
              <a:t> del frontend con </a:t>
            </a:r>
            <a:r>
              <a:rPr lang="en-US" sz="3000" dirty="0" err="1">
                <a:solidFill>
                  <a:srgbClr val="253754"/>
                </a:solidFill>
                <a:latin typeface="Glacial Indifference"/>
                <a:ea typeface="Glacial Indifference"/>
                <a:cs typeface="Glacial Indifference"/>
                <a:sym typeface="Glacial Indifference"/>
              </a:rPr>
              <a:t>el</a:t>
            </a:r>
            <a:r>
              <a:rPr lang="en-US" sz="3000" dirty="0">
                <a:solidFill>
                  <a:srgbClr val="253754"/>
                </a:solidFill>
                <a:latin typeface="Glacial Indifference"/>
                <a:ea typeface="Glacial Indifference"/>
                <a:cs typeface="Glacial Indifference"/>
                <a:sym typeface="Glacial Indifference"/>
              </a:rPr>
              <a:t> backend -----------------------------------------------------------  30</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Pruebas</a:t>
            </a:r>
            <a:r>
              <a:rPr lang="en-US" sz="3000" dirty="0">
                <a:solidFill>
                  <a:srgbClr val="253754"/>
                </a:solidFill>
                <a:latin typeface="Glacial Indifference"/>
                <a:ea typeface="Glacial Indifference"/>
                <a:cs typeface="Glacial Indifference"/>
                <a:sym typeface="Glacial Indifference"/>
              </a:rPr>
              <a:t> de la </a:t>
            </a:r>
            <a:r>
              <a:rPr lang="en-US" sz="3000" dirty="0" err="1">
                <a:solidFill>
                  <a:srgbClr val="253754"/>
                </a:solidFill>
                <a:latin typeface="Glacial Indifference"/>
                <a:ea typeface="Glacial Indifference"/>
                <a:cs typeface="Glacial Indifference"/>
                <a:sym typeface="Glacial Indifference"/>
              </a:rPr>
              <a:t>conexión</a:t>
            </a:r>
            <a:r>
              <a:rPr lang="en-US" sz="3000" dirty="0">
                <a:solidFill>
                  <a:srgbClr val="253754"/>
                </a:solidFill>
                <a:latin typeface="Glacial Indifference"/>
                <a:ea typeface="Glacial Indifference"/>
                <a:cs typeface="Glacial Indifference"/>
                <a:sym typeface="Glacial Indifference"/>
              </a:rPr>
              <a:t> del frontend con </a:t>
            </a:r>
            <a:r>
              <a:rPr lang="en-US" sz="3000" dirty="0" err="1">
                <a:solidFill>
                  <a:srgbClr val="253754"/>
                </a:solidFill>
                <a:latin typeface="Glacial Indifference"/>
                <a:ea typeface="Glacial Indifference"/>
                <a:cs typeface="Glacial Indifference"/>
                <a:sym typeface="Glacial Indifference"/>
              </a:rPr>
              <a:t>el</a:t>
            </a:r>
            <a:r>
              <a:rPr lang="en-US" sz="3000" dirty="0">
                <a:solidFill>
                  <a:srgbClr val="253754"/>
                </a:solidFill>
                <a:latin typeface="Glacial Indifference"/>
                <a:ea typeface="Glacial Indifference"/>
                <a:cs typeface="Glacial Indifference"/>
                <a:sym typeface="Glacial Indifference"/>
              </a:rPr>
              <a:t> backend --------------------------------------------- 35</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Conclusión</a:t>
            </a:r>
            <a:r>
              <a:rPr lang="en-US" sz="3000" dirty="0">
                <a:solidFill>
                  <a:srgbClr val="253754"/>
                </a:solidFill>
                <a:latin typeface="Glacial Indifference"/>
                <a:ea typeface="Glacial Indifference"/>
                <a:cs typeface="Glacial Indifference"/>
                <a:sym typeface="Glacial Indifference"/>
              </a:rPr>
              <a:t> ----------------------------------------------------------------------------------------  41</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a:solidFill>
                  <a:srgbClr val="253754"/>
                </a:solidFill>
                <a:latin typeface="Glacial Indifference"/>
                <a:ea typeface="Glacial Indifference"/>
                <a:cs typeface="Glacial Indifference"/>
                <a:sym typeface="Glacial Indifference"/>
              </a:rPr>
              <a:t>Fuentes de </a:t>
            </a:r>
            <a:r>
              <a:rPr lang="en-US" sz="3000" dirty="0" err="1">
                <a:solidFill>
                  <a:srgbClr val="253754"/>
                </a:solidFill>
                <a:latin typeface="Glacial Indifference"/>
                <a:ea typeface="Glacial Indifference"/>
                <a:cs typeface="Glacial Indifference"/>
                <a:sym typeface="Glacial Indifference"/>
              </a:rPr>
              <a:t>información</a:t>
            </a:r>
            <a:r>
              <a:rPr lang="en-US" sz="3000" dirty="0">
                <a:solidFill>
                  <a:srgbClr val="253754"/>
                </a:solidFill>
                <a:latin typeface="Glacial Indifference"/>
                <a:ea typeface="Glacial Indifference"/>
                <a:cs typeface="Glacial Indifference"/>
                <a:sym typeface="Glacial Indifference"/>
              </a:rPr>
              <a:t> --------------------------------------------------------------------------- 42</a:t>
            </a:r>
          </a:p>
          <a:p>
            <a:pPr algn="just">
              <a:lnSpc>
                <a:spcPts val="3150"/>
              </a:lnSpc>
            </a:pPr>
            <a:endParaRPr lang="en-US" sz="3000" dirty="0">
              <a:solidFill>
                <a:srgbClr val="253754"/>
              </a:solidFill>
              <a:latin typeface="Glacial Indifference"/>
              <a:ea typeface="Glacial Indifference"/>
              <a:cs typeface="Glacial Indifference"/>
              <a:sym typeface="Glacial Indifference"/>
            </a:endParaRPr>
          </a:p>
          <a:p>
            <a:pPr algn="just">
              <a:lnSpc>
                <a:spcPts val="3150"/>
              </a:lnSpc>
            </a:pPr>
            <a:r>
              <a:rPr lang="en-US" sz="3000" dirty="0" err="1">
                <a:solidFill>
                  <a:srgbClr val="253754"/>
                </a:solidFill>
                <a:latin typeface="Glacial Indifference"/>
                <a:ea typeface="Glacial Indifference"/>
                <a:cs typeface="Glacial Indifference"/>
                <a:sym typeface="Glacial Indifference"/>
              </a:rPr>
              <a:t>Anexos</a:t>
            </a:r>
            <a:r>
              <a:rPr lang="en-US" sz="3000" dirty="0">
                <a:solidFill>
                  <a:srgbClr val="253754"/>
                </a:solidFill>
                <a:latin typeface="Glacial Indifference"/>
                <a:ea typeface="Glacial Indifference"/>
                <a:cs typeface="Glacial Indifference"/>
                <a:sym typeface="Glacial Indifference"/>
              </a:rPr>
              <a:t> -------------------------------------------------------------------------------------------- 43</a:t>
            </a:r>
          </a:p>
        </p:txBody>
      </p:sp>
      <p:grpSp>
        <p:nvGrpSpPr>
          <p:cNvPr id="4" name="Group 4"/>
          <p:cNvGrpSpPr/>
          <p:nvPr/>
        </p:nvGrpSpPr>
        <p:grpSpPr>
          <a:xfrm>
            <a:off x="17259300" y="9258300"/>
            <a:ext cx="525494" cy="520700"/>
            <a:chOff x="0" y="0"/>
            <a:chExt cx="700659" cy="694267"/>
          </a:xfrm>
        </p:grpSpPr>
        <p:grpSp>
          <p:nvGrpSpPr>
            <p:cNvPr id="5" name="Group 5"/>
            <p:cNvGrpSpPr/>
            <p:nvPr/>
          </p:nvGrpSpPr>
          <p:grpSpPr>
            <a:xfrm>
              <a:off x="0" y="0"/>
              <a:ext cx="700659" cy="694267"/>
              <a:chOff x="0" y="0"/>
              <a:chExt cx="138402" cy="137139"/>
            </a:xfrm>
          </p:grpSpPr>
          <p:sp>
            <p:nvSpPr>
              <p:cNvPr id="6" name="Freeform 6"/>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7" name="TextBox 7"/>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8" name="TextBox 8"/>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a:t>
              </a: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94502"/>
            <a:ext cx="16230600" cy="6283771"/>
          </a:xfrm>
          <a:prstGeom prst="rect">
            <a:avLst/>
          </a:prstGeom>
        </p:spPr>
        <p:txBody>
          <a:bodyPr lIns="0" tIns="0" rIns="0" bIns="0" rtlCol="0" anchor="t">
            <a:spAutoFit/>
          </a:bodyPr>
          <a:lstStyle/>
          <a:p>
            <a:pPr algn="just">
              <a:lnSpc>
                <a:spcPts val="4125"/>
              </a:lnSpc>
            </a:pPr>
            <a:r>
              <a:rPr lang="en-US" sz="3300" dirty="0" err="1">
                <a:solidFill>
                  <a:srgbClr val="253754"/>
                </a:solidFill>
                <a:latin typeface="Glacial Indifference"/>
                <a:ea typeface="Glacial Indifference"/>
                <a:cs typeface="Glacial Indifference"/>
                <a:sym typeface="Glacial Indifference"/>
              </a:rPr>
              <a:t>Anteriormente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lleve</a:t>
            </a:r>
            <a:r>
              <a:rPr lang="en-US" sz="3300" dirty="0">
                <a:solidFill>
                  <a:srgbClr val="253754"/>
                </a:solidFill>
                <a:latin typeface="Glacial Indifference"/>
                <a:ea typeface="Glacial Indifference"/>
                <a:cs typeface="Glacial Indifference"/>
                <a:sym typeface="Glacial Indifference"/>
              </a:rPr>
              <a:t> a </a:t>
            </a:r>
            <a:r>
              <a:rPr lang="en-US" sz="3300" dirty="0" err="1">
                <a:solidFill>
                  <a:srgbClr val="253754"/>
                </a:solidFill>
                <a:latin typeface="Glacial Indifference"/>
                <a:ea typeface="Glacial Indifference"/>
                <a:cs typeface="Glacial Indifference"/>
                <a:sym typeface="Glacial Indifference"/>
              </a:rPr>
              <a:t>cabo</a:t>
            </a:r>
            <a:r>
              <a:rPr lang="en-US" sz="3300" dirty="0">
                <a:solidFill>
                  <a:srgbClr val="253754"/>
                </a:solidFill>
                <a:latin typeface="Glacial Indifference"/>
                <a:ea typeface="Glacial Indifference"/>
                <a:cs typeface="Glacial Indifference"/>
                <a:sym typeface="Glacial Indifference"/>
              </a:rPr>
              <a:t> la </a:t>
            </a:r>
            <a:r>
              <a:rPr lang="en-US" sz="3300" dirty="0" err="1">
                <a:solidFill>
                  <a:srgbClr val="253754"/>
                </a:solidFill>
                <a:latin typeface="Glacial Indifference"/>
                <a:ea typeface="Glacial Indifference"/>
                <a:cs typeface="Glacial Indifference"/>
                <a:sym typeface="Glacial Indifference"/>
              </a:rPr>
              <a:t>creación</a:t>
            </a:r>
            <a:r>
              <a:rPr lang="en-US" sz="3300" dirty="0">
                <a:solidFill>
                  <a:srgbClr val="253754"/>
                </a:solidFill>
                <a:latin typeface="Glacial Indifference"/>
                <a:ea typeface="Glacial Indifference"/>
                <a:cs typeface="Glacial Indifference"/>
                <a:sym typeface="Glacial Indifference"/>
              </a:rPr>
              <a:t> de una  </a:t>
            </a:r>
            <a:r>
              <a:rPr lang="en-US" sz="3300" dirty="0" err="1">
                <a:solidFill>
                  <a:srgbClr val="253754"/>
                </a:solidFill>
                <a:latin typeface="Glacial Indifference"/>
                <a:ea typeface="Glacial Indifference"/>
                <a:cs typeface="Glacial Indifference"/>
                <a:sym typeface="Glacial Indifference"/>
              </a:rPr>
              <a:t>una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arquitectura</a:t>
            </a:r>
            <a:r>
              <a:rPr lang="en-US" sz="3300" dirty="0">
                <a:solidFill>
                  <a:srgbClr val="253754"/>
                </a:solidFill>
                <a:latin typeface="Glacial Indifference"/>
                <a:ea typeface="Glacial Indifference"/>
                <a:cs typeface="Glacial Indifference"/>
                <a:sym typeface="Glacial Indifference"/>
              </a:rPr>
              <a:t> de </a:t>
            </a:r>
            <a:r>
              <a:rPr lang="en-US" sz="3300" dirty="0" err="1">
                <a:solidFill>
                  <a:srgbClr val="253754"/>
                </a:solidFill>
                <a:latin typeface="Glacial Indifference"/>
                <a:ea typeface="Glacial Indifference"/>
                <a:cs typeface="Glacial Indifference"/>
                <a:sym typeface="Glacial Indifference"/>
              </a:rPr>
              <a:t>microservicios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compuesta</a:t>
            </a:r>
            <a:r>
              <a:rPr lang="en-US" sz="3300" dirty="0">
                <a:solidFill>
                  <a:srgbClr val="253754"/>
                </a:solidFill>
                <a:latin typeface="Glacial Indifference"/>
                <a:ea typeface="Glacial Indifference"/>
                <a:cs typeface="Glacial Indifference"/>
                <a:sym typeface="Glacial Indifference"/>
              </a:rPr>
              <a:t> por 5 </a:t>
            </a:r>
            <a:r>
              <a:rPr lang="en-US" sz="3300" dirty="0" err="1">
                <a:solidFill>
                  <a:srgbClr val="253754"/>
                </a:solidFill>
                <a:latin typeface="Glacial Indifference"/>
                <a:ea typeface="Glacial Indifference"/>
                <a:cs typeface="Glacial Indifference"/>
                <a:sym typeface="Glacial Indifference"/>
              </a:rPr>
              <a:t>servicios</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fueron</a:t>
            </a:r>
            <a:r>
              <a:rPr lang="en-US" sz="3300" dirty="0">
                <a:solidFill>
                  <a:srgbClr val="253754"/>
                </a:solidFill>
                <a:latin typeface="Glacial Indifference"/>
                <a:ea typeface="Glacial Indifference"/>
                <a:cs typeface="Glacial Indifference"/>
                <a:sym typeface="Glacial Indifference"/>
              </a:rPr>
              <a:t> “Config”, “Eureka”, “Gateway”, “Course” y “Student” </a:t>
            </a:r>
            <a:r>
              <a:rPr lang="en-US" sz="3300" dirty="0" err="1">
                <a:solidFill>
                  <a:srgbClr val="253754"/>
                </a:solidFill>
                <a:latin typeface="Glacial Indifference"/>
                <a:ea typeface="Glacial Indifference"/>
                <a:cs typeface="Glacial Indifference"/>
                <a:sym typeface="Glacial Indifference"/>
              </a:rPr>
              <a:t>en</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Intellij</a:t>
            </a:r>
            <a:r>
              <a:rPr lang="en-US" sz="3300" dirty="0">
                <a:solidFill>
                  <a:srgbClr val="253754"/>
                </a:solidFill>
                <a:latin typeface="Glacial Indifference"/>
                <a:ea typeface="Glacial Indifference"/>
                <a:cs typeface="Glacial Indifference"/>
                <a:sym typeface="Glacial Indifference"/>
              </a:rPr>
              <a:t> IDEA.</a:t>
            </a:r>
          </a:p>
          <a:p>
            <a:pPr algn="just">
              <a:lnSpc>
                <a:spcPts val="4125"/>
              </a:lnSpc>
            </a:pPr>
            <a:endParaRPr lang="en-US" sz="3300" dirty="0">
              <a:solidFill>
                <a:srgbClr val="253754"/>
              </a:solidFill>
              <a:latin typeface="Glacial Indifference"/>
              <a:ea typeface="Glacial Indifference"/>
              <a:cs typeface="Glacial Indifference"/>
              <a:sym typeface="Glacial Indifference"/>
            </a:endParaRPr>
          </a:p>
          <a:p>
            <a:pPr algn="just">
              <a:lnSpc>
                <a:spcPts val="4125"/>
              </a:lnSpc>
            </a:pPr>
            <a:r>
              <a:rPr lang="en-US" sz="3300" dirty="0">
                <a:solidFill>
                  <a:srgbClr val="253754"/>
                </a:solidFill>
                <a:latin typeface="Glacial Indifference"/>
                <a:ea typeface="Glacial Indifference"/>
                <a:cs typeface="Glacial Indifference"/>
                <a:sym typeface="Glacial Indifference"/>
              </a:rPr>
              <a:t>Para </a:t>
            </a:r>
            <a:r>
              <a:rPr lang="en-US" sz="3300" dirty="0" err="1">
                <a:solidFill>
                  <a:srgbClr val="253754"/>
                </a:solidFill>
                <a:latin typeface="Glacial Indifference"/>
                <a:ea typeface="Glacial Indifference"/>
                <a:cs typeface="Glacial Indifference"/>
                <a:sym typeface="Glacial Indifference"/>
              </a:rPr>
              <a:t>complementar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aun</a:t>
            </a:r>
            <a:r>
              <a:rPr lang="en-US" sz="3300" dirty="0">
                <a:solidFill>
                  <a:srgbClr val="253754"/>
                </a:solidFill>
                <a:latin typeface="Glacial Indifference"/>
                <a:ea typeface="Glacial Indifference"/>
                <a:cs typeface="Glacial Indifference"/>
                <a:sym typeface="Glacial Indifference"/>
              </a:rPr>
              <a:t> mas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sistema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creado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en</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esta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practica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implemente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uso</a:t>
            </a:r>
            <a:r>
              <a:rPr lang="en-US" sz="3300" dirty="0">
                <a:solidFill>
                  <a:srgbClr val="253754"/>
                </a:solidFill>
                <a:latin typeface="Glacial Indifference"/>
                <a:ea typeface="Glacial Indifference"/>
                <a:cs typeface="Glacial Indifference"/>
                <a:sym typeface="Glacial Indifference"/>
              </a:rPr>
              <a:t> de la </a:t>
            </a:r>
            <a:r>
              <a:rPr lang="en-US" sz="3300" dirty="0" err="1">
                <a:solidFill>
                  <a:srgbClr val="253754"/>
                </a:solidFill>
                <a:latin typeface="Glacial Indifference"/>
                <a:ea typeface="Glacial Indifference"/>
                <a:cs typeface="Glacial Indifference"/>
                <a:sym typeface="Glacial Indifference"/>
              </a:rPr>
              <a:t>herramienta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Angular”para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poder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consumir</a:t>
            </a:r>
            <a:r>
              <a:rPr lang="en-US" sz="3300" dirty="0">
                <a:solidFill>
                  <a:srgbClr val="253754"/>
                </a:solidFill>
                <a:latin typeface="Glacial Indifference"/>
                <a:ea typeface="Glacial Indifference"/>
                <a:cs typeface="Glacial Indifference"/>
                <a:sym typeface="Glacial Indifference"/>
              </a:rPr>
              <a:t> los </a:t>
            </a:r>
            <a:r>
              <a:rPr lang="en-US" sz="3300" dirty="0" err="1">
                <a:solidFill>
                  <a:srgbClr val="253754"/>
                </a:solidFill>
                <a:latin typeface="Glacial Indifference"/>
                <a:ea typeface="Glacial Indifference"/>
                <a:cs typeface="Glacial Indifference"/>
                <a:sym typeface="Glacial Indifference"/>
              </a:rPr>
              <a:t>microservicios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ya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existentes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mediante</a:t>
            </a:r>
            <a:r>
              <a:rPr lang="en-US" sz="3300" dirty="0">
                <a:solidFill>
                  <a:srgbClr val="253754"/>
                </a:solidFill>
                <a:latin typeface="Glacial Indifference"/>
                <a:ea typeface="Glacial Indifference"/>
                <a:cs typeface="Glacial Indifference"/>
                <a:sym typeface="Glacial Indifference"/>
              </a:rPr>
              <a:t> una </a:t>
            </a:r>
            <a:r>
              <a:rPr lang="en-US" sz="3300" dirty="0" err="1">
                <a:solidFill>
                  <a:srgbClr val="253754"/>
                </a:solidFill>
                <a:latin typeface="Glacial Indifference"/>
                <a:ea typeface="Glacial Indifference"/>
                <a:cs typeface="Glacial Indifference"/>
                <a:sym typeface="Glacial Indifference"/>
              </a:rPr>
              <a:t>interfaz</a:t>
            </a:r>
            <a:r>
              <a:rPr lang="en-US" sz="3300" dirty="0">
                <a:solidFill>
                  <a:srgbClr val="253754"/>
                </a:solidFill>
                <a:latin typeface="Glacial Indifference"/>
                <a:ea typeface="Glacial Indifference"/>
                <a:cs typeface="Glacial Indifference"/>
                <a:sym typeface="Glacial Indifference"/>
              </a:rPr>
              <a:t> web y </a:t>
            </a:r>
            <a:r>
              <a:rPr lang="en-US" sz="3300" dirty="0" err="1">
                <a:solidFill>
                  <a:srgbClr val="253754"/>
                </a:solidFill>
                <a:latin typeface="Glacial Indifference"/>
                <a:ea typeface="Glacial Indifference"/>
                <a:cs typeface="Glacial Indifference"/>
                <a:sym typeface="Glacial Indifference"/>
              </a:rPr>
              <a:t>asi</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poder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realizar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operaciones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insertar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cosultar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actualizar</a:t>
            </a:r>
            <a:r>
              <a:rPr lang="en-US" sz="3300" dirty="0">
                <a:solidFill>
                  <a:srgbClr val="253754"/>
                </a:solidFill>
                <a:latin typeface="Glacial Indifference"/>
                <a:ea typeface="Glacial Indifference"/>
                <a:cs typeface="Glacial Indifference"/>
                <a:sym typeface="Glacial Indifference"/>
              </a:rPr>
              <a:t> y </a:t>
            </a:r>
            <a:r>
              <a:rPr lang="en-US" sz="3300" dirty="0" err="1">
                <a:solidFill>
                  <a:srgbClr val="253754"/>
                </a:solidFill>
                <a:latin typeface="Glacial Indifference"/>
                <a:ea typeface="Glacial Indifference"/>
                <a:cs typeface="Glacial Indifference"/>
                <a:sym typeface="Glacial Indifference"/>
              </a:rPr>
              <a:t>eliminar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datos</a:t>
            </a:r>
            <a:r>
              <a:rPr lang="en-US" sz="3300" dirty="0">
                <a:solidFill>
                  <a:srgbClr val="253754"/>
                </a:solidFill>
                <a:latin typeface="Glacial Indifference"/>
                <a:ea typeface="Glacial Indifference"/>
                <a:cs typeface="Glacial Indifference"/>
                <a:sym typeface="Glacial Indifference"/>
              </a:rPr>
              <a:t>.</a:t>
            </a:r>
          </a:p>
          <a:p>
            <a:pPr algn="just">
              <a:lnSpc>
                <a:spcPts val="4125"/>
              </a:lnSpc>
            </a:pPr>
            <a:endParaRPr lang="en-US" sz="3300" dirty="0">
              <a:solidFill>
                <a:srgbClr val="253754"/>
              </a:solidFill>
              <a:latin typeface="Glacial Indifference"/>
              <a:ea typeface="Glacial Indifference"/>
              <a:cs typeface="Glacial Indifference"/>
              <a:sym typeface="Glacial Indifference"/>
            </a:endParaRPr>
          </a:p>
          <a:p>
            <a:pPr algn="just">
              <a:lnSpc>
                <a:spcPts val="4125"/>
              </a:lnSpc>
            </a:pPr>
            <a:r>
              <a:rPr lang="en-US" sz="3300" dirty="0">
                <a:solidFill>
                  <a:srgbClr val="253754"/>
                </a:solidFill>
                <a:latin typeface="Glacial Indifference"/>
                <a:ea typeface="Glacial Indifference"/>
                <a:cs typeface="Glacial Indifference"/>
                <a:sym typeface="Glacial Indifference"/>
              </a:rPr>
              <a:t>Por lo </a:t>
            </a:r>
            <a:r>
              <a:rPr lang="en-US" sz="3300" dirty="0" err="1">
                <a:solidFill>
                  <a:srgbClr val="253754"/>
                </a:solidFill>
                <a:latin typeface="Glacial Indifference"/>
                <a:ea typeface="Glacial Indifference"/>
                <a:cs typeface="Glacial Indifference"/>
                <a:sym typeface="Glacial Indifference"/>
              </a:rPr>
              <a:t>cual</a:t>
            </a:r>
            <a:r>
              <a:rPr lang="en-US" sz="3300" dirty="0">
                <a:solidFill>
                  <a:srgbClr val="253754"/>
                </a:solidFill>
                <a:latin typeface="Glacial Indifference"/>
                <a:ea typeface="Glacial Indifference"/>
                <a:cs typeface="Glacial Indifference"/>
                <a:sym typeface="Glacial Indifference"/>
              </a:rPr>
              <a:t>, se </a:t>
            </a:r>
            <a:r>
              <a:rPr lang="en-US" sz="3300" dirty="0" err="1">
                <a:solidFill>
                  <a:srgbClr val="253754"/>
                </a:solidFill>
                <a:latin typeface="Glacial Indifference"/>
                <a:ea typeface="Glacial Indifference"/>
                <a:cs typeface="Glacial Indifference"/>
                <a:sym typeface="Glacial Indifference"/>
              </a:rPr>
              <a:t>presenta</a:t>
            </a:r>
            <a:r>
              <a:rPr lang="en-US" sz="3300" dirty="0">
                <a:solidFill>
                  <a:srgbClr val="253754"/>
                </a:solidFill>
                <a:latin typeface="Glacial Indifference"/>
                <a:ea typeface="Glacial Indifference"/>
                <a:cs typeface="Glacial Indifference"/>
                <a:sym typeface="Glacial Indifference"/>
              </a:rPr>
              <a:t> a </a:t>
            </a:r>
            <a:r>
              <a:rPr lang="en-US" sz="3300" dirty="0" err="1">
                <a:solidFill>
                  <a:srgbClr val="253754"/>
                </a:solidFill>
                <a:latin typeface="Glacial Indifference"/>
                <a:ea typeface="Glacial Indifference"/>
                <a:cs typeface="Glacial Indifference"/>
                <a:sym typeface="Glacial Indifference"/>
              </a:rPr>
              <a:t>continuación</a:t>
            </a:r>
            <a:r>
              <a:rPr lang="en-US" sz="3300" dirty="0">
                <a:solidFill>
                  <a:srgbClr val="253754"/>
                </a:solidFill>
                <a:latin typeface="Glacial Indifference"/>
                <a:ea typeface="Glacial Indifference"/>
                <a:cs typeface="Glacial Indifference"/>
                <a:sym typeface="Glacial Indifference"/>
              </a:rPr>
              <a:t> los pasos </a:t>
            </a:r>
            <a:r>
              <a:rPr lang="en-US" sz="3300" dirty="0" err="1">
                <a:solidFill>
                  <a:srgbClr val="253754"/>
                </a:solidFill>
                <a:latin typeface="Glacial Indifference"/>
                <a:ea typeface="Glacial Indifference"/>
                <a:cs typeface="Glacial Indifference"/>
                <a:sym typeface="Glacial Indifference"/>
              </a:rPr>
              <a:t>llevados</a:t>
            </a:r>
            <a:r>
              <a:rPr lang="en-US" sz="3300" dirty="0">
                <a:solidFill>
                  <a:srgbClr val="253754"/>
                </a:solidFill>
                <a:latin typeface="Glacial Indifference"/>
                <a:ea typeface="Glacial Indifference"/>
                <a:cs typeface="Glacial Indifference"/>
                <a:sym typeface="Glacial Indifference"/>
              </a:rPr>
              <a:t> a </a:t>
            </a:r>
            <a:r>
              <a:rPr lang="en-US" sz="3300" dirty="0" err="1">
                <a:solidFill>
                  <a:srgbClr val="253754"/>
                </a:solidFill>
                <a:latin typeface="Glacial Indifference"/>
                <a:ea typeface="Glacial Indifference"/>
                <a:cs typeface="Glacial Indifference"/>
                <a:sym typeface="Glacial Indifference"/>
              </a:rPr>
              <a:t>cabo</a:t>
            </a:r>
            <a:r>
              <a:rPr lang="en-US" sz="3300" dirty="0">
                <a:solidFill>
                  <a:srgbClr val="253754"/>
                </a:solidFill>
                <a:latin typeface="Glacial Indifference"/>
                <a:ea typeface="Glacial Indifference"/>
                <a:cs typeface="Glacial Indifference"/>
                <a:sym typeface="Glacial Indifference"/>
              </a:rPr>
              <a:t> para </a:t>
            </a:r>
            <a:r>
              <a:rPr lang="en-US" sz="3300" dirty="0" err="1">
                <a:solidFill>
                  <a:srgbClr val="253754"/>
                </a:solidFill>
                <a:latin typeface="Glacial Indifference"/>
                <a:ea typeface="Glacial Indifference"/>
                <a:cs typeface="Glacial Indifference"/>
                <a:sym typeface="Glacial Indifference"/>
              </a:rPr>
              <a:t>realizar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esto</a:t>
            </a:r>
            <a:r>
              <a:rPr lang="en-US" sz="3300" dirty="0">
                <a:solidFill>
                  <a:srgbClr val="253754"/>
                </a:solidFill>
                <a:latin typeface="Glacial Indifference"/>
                <a:ea typeface="Glacial Indifference"/>
                <a:cs typeface="Glacial Indifference"/>
                <a:sym typeface="Glacial Indifference"/>
              </a:rPr>
              <a:t>, lo </a:t>
            </a:r>
            <a:r>
              <a:rPr lang="en-US" sz="3300" dirty="0" err="1">
                <a:solidFill>
                  <a:srgbClr val="253754"/>
                </a:solidFill>
                <a:latin typeface="Glacial Indifference"/>
                <a:ea typeface="Glacial Indifference"/>
                <a:cs typeface="Glacial Indifference"/>
                <a:sym typeface="Glacial Indifference"/>
              </a:rPr>
              <a:t>cual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nos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permitira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comprender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proceso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detallado</a:t>
            </a:r>
            <a:r>
              <a:rPr lang="en-US" sz="3300" dirty="0">
                <a:solidFill>
                  <a:srgbClr val="253754"/>
                </a:solidFill>
                <a:latin typeface="Glacial Indifference"/>
                <a:ea typeface="Glacial Indifference"/>
                <a:cs typeface="Glacial Indifference"/>
                <a:sym typeface="Glacial Indifference"/>
              </a:rPr>
              <a:t> que se </a:t>
            </a:r>
            <a:r>
              <a:rPr lang="en-US" sz="3300" dirty="0" err="1">
                <a:solidFill>
                  <a:srgbClr val="253754"/>
                </a:solidFill>
                <a:latin typeface="Glacial Indifference"/>
                <a:ea typeface="Glacial Indifference"/>
                <a:cs typeface="Glacial Indifference"/>
                <a:sym typeface="Glacial Indifference"/>
              </a:rPr>
              <a:t>lleva</a:t>
            </a:r>
            <a:r>
              <a:rPr lang="en-US" sz="3300" dirty="0">
                <a:solidFill>
                  <a:srgbClr val="253754"/>
                </a:solidFill>
                <a:latin typeface="Glacial Indifference"/>
                <a:ea typeface="Glacial Indifference"/>
                <a:cs typeface="Glacial Indifference"/>
                <a:sym typeface="Glacial Indifference"/>
              </a:rPr>
              <a:t> a </a:t>
            </a:r>
            <a:r>
              <a:rPr lang="en-US" sz="3300" dirty="0" err="1">
                <a:solidFill>
                  <a:srgbClr val="253754"/>
                </a:solidFill>
                <a:latin typeface="Glacial Indifference"/>
                <a:ea typeface="Glacial Indifference"/>
                <a:cs typeface="Glacial Indifference"/>
                <a:sym typeface="Glacial Indifference"/>
              </a:rPr>
              <a:t>cabo</a:t>
            </a:r>
            <a:r>
              <a:rPr lang="en-US" sz="3300" dirty="0">
                <a:solidFill>
                  <a:srgbClr val="253754"/>
                </a:solidFill>
                <a:latin typeface="Glacial Indifference"/>
                <a:ea typeface="Glacial Indifference"/>
                <a:cs typeface="Glacial Indifference"/>
                <a:sym typeface="Glacial Indifference"/>
              </a:rPr>
              <a:t> para </a:t>
            </a:r>
            <a:r>
              <a:rPr lang="en-US" sz="3300" dirty="0" err="1">
                <a:solidFill>
                  <a:srgbClr val="253754"/>
                </a:solidFill>
                <a:latin typeface="Glacial Indifference"/>
                <a:ea typeface="Glacial Indifference"/>
                <a:cs typeface="Glacial Indifference"/>
                <a:sym typeface="Glacial Indifference"/>
              </a:rPr>
              <a:t>consumir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microservicios</a:t>
            </a:r>
            <a:r>
              <a:rPr lang="en-US" sz="3300" dirty="0">
                <a:solidFill>
                  <a:srgbClr val="253754"/>
                </a:solidFill>
                <a:latin typeface="Glacial Indifference"/>
                <a:ea typeface="Glacial Indifference"/>
                <a:cs typeface="Glacial Indifference"/>
                <a:sym typeface="Glacial Indifference"/>
              </a:rPr>
              <a:t> con Angular.</a:t>
            </a:r>
          </a:p>
        </p:txBody>
      </p:sp>
      <p:sp>
        <p:nvSpPr>
          <p:cNvPr id="3" name="TextBox 3"/>
          <p:cNvSpPr txBox="1"/>
          <p:nvPr/>
        </p:nvSpPr>
        <p:spPr>
          <a:xfrm>
            <a:off x="3981198" y="266699"/>
            <a:ext cx="10325604" cy="762001"/>
          </a:xfrm>
          <a:prstGeom prst="rect">
            <a:avLst/>
          </a:prstGeom>
        </p:spPr>
        <p:txBody>
          <a:bodyPr lIns="0" tIns="0" rIns="0" bIns="0" rtlCol="0" anchor="t">
            <a:spAutoFit/>
          </a:bodyPr>
          <a:lstStyle/>
          <a:p>
            <a:pPr algn="ctr">
              <a:lnSpc>
                <a:spcPts val="6299"/>
              </a:lnSpc>
            </a:pPr>
            <a:r>
              <a:rPr lang="en-US" sz="4499" b="1">
                <a:solidFill>
                  <a:srgbClr val="152540"/>
                </a:solidFill>
                <a:latin typeface="Glacial Indifference Bold"/>
                <a:ea typeface="Glacial Indifference Bold"/>
                <a:cs typeface="Glacial Indifference Bold"/>
                <a:sym typeface="Glacial Indifference Bold"/>
              </a:rPr>
              <a:t>INTRODUCCION</a:t>
            </a:r>
          </a:p>
        </p:txBody>
      </p:sp>
      <p:grpSp>
        <p:nvGrpSpPr>
          <p:cNvPr id="4" name="Group 4"/>
          <p:cNvGrpSpPr/>
          <p:nvPr/>
        </p:nvGrpSpPr>
        <p:grpSpPr>
          <a:xfrm>
            <a:off x="17259300" y="9258300"/>
            <a:ext cx="525494" cy="520700"/>
            <a:chOff x="0" y="0"/>
            <a:chExt cx="700659" cy="694267"/>
          </a:xfrm>
        </p:grpSpPr>
        <p:grpSp>
          <p:nvGrpSpPr>
            <p:cNvPr id="5" name="Group 5"/>
            <p:cNvGrpSpPr/>
            <p:nvPr/>
          </p:nvGrpSpPr>
          <p:grpSpPr>
            <a:xfrm>
              <a:off x="0" y="0"/>
              <a:ext cx="700659" cy="694267"/>
              <a:chOff x="0" y="0"/>
              <a:chExt cx="138402" cy="137139"/>
            </a:xfrm>
          </p:grpSpPr>
          <p:sp>
            <p:nvSpPr>
              <p:cNvPr id="6" name="Freeform 6"/>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7" name="TextBox 7"/>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8" name="TextBox 8"/>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a:t>
              </a: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1363" y="1388428"/>
            <a:ext cx="16230600" cy="6283771"/>
          </a:xfrm>
          <a:prstGeom prst="rect">
            <a:avLst/>
          </a:prstGeom>
        </p:spPr>
        <p:txBody>
          <a:bodyPr lIns="0" tIns="0" rIns="0" bIns="0" rtlCol="0" anchor="t">
            <a:spAutoFit/>
          </a:bodyPr>
          <a:lstStyle/>
          <a:p>
            <a:pPr algn="just">
              <a:lnSpc>
                <a:spcPts val="4125"/>
              </a:lnSpc>
            </a:pPr>
            <a:r>
              <a:rPr lang="en-US" sz="3300" dirty="0">
                <a:solidFill>
                  <a:srgbClr val="253754"/>
                </a:solidFill>
                <a:latin typeface="Glacial Indifference"/>
                <a:ea typeface="Glacial Indifference"/>
                <a:cs typeface="Glacial Indifference"/>
                <a:sym typeface="Glacial Indifference"/>
              </a:rPr>
              <a:t>El frontend es un </a:t>
            </a:r>
            <a:r>
              <a:rPr lang="en-US" sz="3300" dirty="0" err="1">
                <a:solidFill>
                  <a:srgbClr val="253754"/>
                </a:solidFill>
                <a:latin typeface="Glacial Indifference"/>
                <a:ea typeface="Glacial Indifference"/>
                <a:cs typeface="Glacial Indifference"/>
                <a:sym typeface="Glacial Indifference"/>
              </a:rPr>
              <a:t>elemento</a:t>
            </a:r>
            <a:r>
              <a:rPr lang="en-US" sz="3300" dirty="0">
                <a:solidFill>
                  <a:srgbClr val="253754"/>
                </a:solidFill>
                <a:latin typeface="Glacial Indifference"/>
                <a:ea typeface="Glacial Indifference"/>
                <a:cs typeface="Glacial Indifference"/>
                <a:sym typeface="Glacial Indifference"/>
              </a:rPr>
              <a:t>  fundamental </a:t>
            </a:r>
            <a:r>
              <a:rPr lang="en-US" sz="3300" dirty="0" err="1">
                <a:solidFill>
                  <a:srgbClr val="253754"/>
                </a:solidFill>
                <a:latin typeface="Glacial Indifference"/>
                <a:ea typeface="Glacial Indifference"/>
                <a:cs typeface="Glacial Indifference"/>
                <a:sym typeface="Glacial Indifference"/>
              </a:rPr>
              <a:t>ya</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actúa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puente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eficiente</a:t>
            </a:r>
            <a:r>
              <a:rPr lang="en-US" sz="3300" dirty="0">
                <a:solidFill>
                  <a:srgbClr val="253754"/>
                </a:solidFill>
                <a:latin typeface="Glacial Indifference"/>
                <a:ea typeface="Glacial Indifference"/>
                <a:cs typeface="Glacial Indifference"/>
                <a:sym typeface="Glacial Indifference"/>
              </a:rPr>
              <a:t> entre la </a:t>
            </a:r>
            <a:r>
              <a:rPr lang="en-US" sz="3300" dirty="0" err="1">
                <a:solidFill>
                  <a:srgbClr val="253754"/>
                </a:solidFill>
                <a:latin typeface="Glacial Indifference"/>
                <a:ea typeface="Glacial Indifference"/>
                <a:cs typeface="Glacial Indifference"/>
                <a:sym typeface="Glacial Indifference"/>
              </a:rPr>
              <a:t>lógica</a:t>
            </a:r>
            <a:r>
              <a:rPr lang="en-US" sz="3300" dirty="0">
                <a:solidFill>
                  <a:srgbClr val="253754"/>
                </a:solidFill>
                <a:latin typeface="Glacial Indifference"/>
                <a:ea typeface="Glacial Indifference"/>
                <a:cs typeface="Glacial Indifference"/>
                <a:sym typeface="Glacial Indifference"/>
              </a:rPr>
              <a:t> del backend y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usuario</a:t>
            </a:r>
            <a:r>
              <a:rPr lang="en-US" sz="3300" dirty="0">
                <a:solidFill>
                  <a:srgbClr val="253754"/>
                </a:solidFill>
                <a:latin typeface="Glacial Indifference"/>
                <a:ea typeface="Glacial Indifference"/>
                <a:cs typeface="Glacial Indifference"/>
                <a:sym typeface="Glacial Indifference"/>
              </a:rPr>
              <a:t> final, </a:t>
            </a:r>
            <a:r>
              <a:rPr lang="en-US" sz="3300" dirty="0" err="1">
                <a:solidFill>
                  <a:srgbClr val="253754"/>
                </a:solidFill>
                <a:latin typeface="Glacial Indifference"/>
                <a:ea typeface="Glacial Indifference"/>
                <a:cs typeface="Glacial Indifference"/>
                <a:sym typeface="Glacial Indifference"/>
              </a:rPr>
              <a:t>impactando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directamente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en</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éxito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comercial</a:t>
            </a:r>
            <a:r>
              <a:rPr lang="en-US" sz="3300" dirty="0">
                <a:solidFill>
                  <a:srgbClr val="253754"/>
                </a:solidFill>
                <a:latin typeface="Glacial Indifference"/>
                <a:ea typeface="Glacial Indifference"/>
                <a:cs typeface="Glacial Indifference"/>
                <a:sym typeface="Glacial Indifference"/>
              </a:rPr>
              <a:t> de un </a:t>
            </a:r>
            <a:r>
              <a:rPr lang="en-US" sz="3300" dirty="0" err="1">
                <a:solidFill>
                  <a:srgbClr val="253754"/>
                </a:solidFill>
                <a:latin typeface="Glacial Indifference"/>
                <a:ea typeface="Glacial Indifference"/>
                <a:cs typeface="Glacial Indifference"/>
                <a:sym typeface="Glacial Indifference"/>
              </a:rPr>
              <a:t>proyecto</a:t>
            </a:r>
            <a:r>
              <a:rPr lang="en-US" sz="3300" dirty="0">
                <a:solidFill>
                  <a:srgbClr val="253754"/>
                </a:solidFill>
                <a:latin typeface="Glacial Indifference"/>
                <a:ea typeface="Glacial Indifference"/>
                <a:cs typeface="Glacial Indifference"/>
                <a:sym typeface="Glacial Indifference"/>
              </a:rPr>
              <a:t>.</a:t>
            </a:r>
          </a:p>
          <a:p>
            <a:pPr algn="just">
              <a:lnSpc>
                <a:spcPts val="4125"/>
              </a:lnSpc>
            </a:pPr>
            <a:endParaRPr lang="en-US" sz="3300" dirty="0">
              <a:solidFill>
                <a:srgbClr val="253754"/>
              </a:solidFill>
              <a:latin typeface="Glacial Indifference"/>
              <a:ea typeface="Glacial Indifference"/>
              <a:cs typeface="Glacial Indifference"/>
              <a:sym typeface="Glacial Indifference"/>
            </a:endParaRPr>
          </a:p>
          <a:p>
            <a:pPr algn="just">
              <a:lnSpc>
                <a:spcPts val="4125"/>
              </a:lnSpc>
            </a:pPr>
            <a:r>
              <a:rPr lang="en-US" sz="3300" dirty="0">
                <a:solidFill>
                  <a:srgbClr val="253754"/>
                </a:solidFill>
                <a:latin typeface="Glacial Indifference"/>
                <a:ea typeface="Glacial Indifference"/>
                <a:cs typeface="Glacial Indifference"/>
                <a:sym typeface="Glacial Indifference"/>
              </a:rPr>
              <a:t>Por </a:t>
            </a:r>
            <a:r>
              <a:rPr lang="en-US" sz="3300" dirty="0" err="1">
                <a:solidFill>
                  <a:srgbClr val="253754"/>
                </a:solidFill>
                <a:latin typeface="Glacial Indifference"/>
                <a:ea typeface="Glacial Indifference"/>
                <a:cs typeface="Glacial Indifference"/>
                <a:sym typeface="Glacial Indifference"/>
              </a:rPr>
              <a:t>esta</a:t>
            </a:r>
            <a:r>
              <a:rPr lang="en-US" sz="3300" dirty="0">
                <a:solidFill>
                  <a:srgbClr val="253754"/>
                </a:solidFill>
                <a:latin typeface="Glacial Indifference"/>
                <a:ea typeface="Glacial Indifference"/>
                <a:cs typeface="Glacial Indifference"/>
                <a:sym typeface="Glacial Indifference"/>
              </a:rPr>
              <a:t> razon, </a:t>
            </a:r>
            <a:r>
              <a:rPr lang="en-US" sz="3300" dirty="0" err="1">
                <a:solidFill>
                  <a:srgbClr val="253754"/>
                </a:solidFill>
                <a:latin typeface="Glacial Indifference"/>
                <a:ea typeface="Glacial Indifference"/>
                <a:cs typeface="Glacial Indifference"/>
                <a:sym typeface="Glacial Indifference"/>
              </a:rPr>
              <a:t>considero</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esta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práctica</a:t>
            </a:r>
            <a:r>
              <a:rPr lang="en-US" sz="3300" dirty="0">
                <a:solidFill>
                  <a:srgbClr val="253754"/>
                </a:solidFill>
                <a:latin typeface="Glacial Indifference"/>
                <a:ea typeface="Glacial Indifference"/>
                <a:cs typeface="Glacial Indifference"/>
                <a:sym typeface="Glacial Indifference"/>
              </a:rPr>
              <a:t> es de gran </a:t>
            </a:r>
            <a:r>
              <a:rPr lang="en-US" sz="3300" dirty="0" err="1">
                <a:solidFill>
                  <a:srgbClr val="253754"/>
                </a:solidFill>
                <a:latin typeface="Glacial Indifference"/>
                <a:ea typeface="Glacial Indifference"/>
                <a:cs typeface="Glacial Indifference"/>
                <a:sym typeface="Glacial Indifference"/>
              </a:rPr>
              <a:t>importancia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ya</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nos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permitirá</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implementarle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frontend a los </a:t>
            </a:r>
            <a:r>
              <a:rPr lang="en-US" sz="3300" dirty="0" err="1">
                <a:solidFill>
                  <a:srgbClr val="253754"/>
                </a:solidFill>
                <a:latin typeface="Glacial Indifference"/>
                <a:ea typeface="Glacial Indifference"/>
                <a:cs typeface="Glacial Indifference"/>
                <a:sym typeface="Glacial Indifference"/>
              </a:rPr>
              <a:t>microservicios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creados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anteriormente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utilizando</a:t>
            </a:r>
            <a:r>
              <a:rPr lang="en-US" sz="3300" dirty="0">
                <a:solidFill>
                  <a:srgbClr val="253754"/>
                </a:solidFill>
                <a:latin typeface="Glacial Indifference"/>
                <a:ea typeface="Glacial Indifference"/>
                <a:cs typeface="Glacial Indifference"/>
                <a:sym typeface="Glacial Indifference"/>
              </a:rPr>
              <a:t> la </a:t>
            </a:r>
            <a:r>
              <a:rPr lang="en-US" sz="3300" dirty="0" err="1">
                <a:solidFill>
                  <a:srgbClr val="253754"/>
                </a:solidFill>
                <a:latin typeface="Glacial Indifference"/>
                <a:ea typeface="Glacial Indifference"/>
                <a:cs typeface="Glacial Indifference"/>
                <a:sym typeface="Glacial Indifference"/>
              </a:rPr>
              <a:t>herramienta</a:t>
            </a:r>
            <a:r>
              <a:rPr lang="en-US" sz="3300" dirty="0">
                <a:solidFill>
                  <a:srgbClr val="253754"/>
                </a:solidFill>
                <a:latin typeface="Glacial Indifference"/>
                <a:ea typeface="Glacial Indifference"/>
                <a:cs typeface="Glacial Indifference"/>
                <a:sym typeface="Glacial Indifference"/>
              </a:rPr>
              <a:t> Angular y </a:t>
            </a:r>
            <a:r>
              <a:rPr lang="en-US" sz="3300" dirty="0" err="1">
                <a:solidFill>
                  <a:srgbClr val="253754"/>
                </a:solidFill>
                <a:latin typeface="Glacial Indifference"/>
                <a:ea typeface="Glacial Indifference"/>
                <a:cs typeface="Glacial Indifference"/>
                <a:sym typeface="Glacial Indifference"/>
              </a:rPr>
              <a:t>asi</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poder</a:t>
            </a:r>
            <a:r>
              <a:rPr lang="en-US" sz="3300" dirty="0">
                <a:solidFill>
                  <a:srgbClr val="253754"/>
                </a:solidFill>
                <a:latin typeface="Glacial Indifference"/>
                <a:ea typeface="Glacial Indifference"/>
                <a:cs typeface="Glacial Indifference"/>
                <a:sym typeface="Glacial Indifference"/>
              </a:rPr>
              <a:t> consumer </a:t>
            </a:r>
            <a:r>
              <a:rPr lang="en-US" sz="3300" dirty="0" err="1">
                <a:solidFill>
                  <a:srgbClr val="253754"/>
                </a:solidFill>
                <a:latin typeface="Glacial Indifference"/>
                <a:ea typeface="Glacial Indifference"/>
                <a:cs typeface="Glacial Indifference"/>
                <a:sym typeface="Glacial Indifference"/>
              </a:rPr>
              <a:t>dichos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microservicios</a:t>
            </a:r>
            <a:endParaRPr lang="en-US" sz="3300" dirty="0">
              <a:solidFill>
                <a:srgbClr val="253754"/>
              </a:solidFill>
              <a:latin typeface="Glacial Indifference"/>
              <a:ea typeface="Glacial Indifference"/>
              <a:cs typeface="Glacial Indifference"/>
              <a:sym typeface="Glacial Indifference"/>
            </a:endParaRPr>
          </a:p>
          <a:p>
            <a:pPr algn="just">
              <a:lnSpc>
                <a:spcPts val="4125"/>
              </a:lnSpc>
            </a:pPr>
            <a:endParaRPr lang="en-US" sz="3300" dirty="0">
              <a:solidFill>
                <a:srgbClr val="253754"/>
              </a:solidFill>
              <a:latin typeface="Glacial Indifference"/>
              <a:ea typeface="Glacial Indifference"/>
              <a:cs typeface="Glacial Indifference"/>
              <a:sym typeface="Glacial Indifference"/>
            </a:endParaRPr>
          </a:p>
          <a:p>
            <a:pPr algn="just">
              <a:lnSpc>
                <a:spcPts val="4125"/>
              </a:lnSpc>
            </a:pPr>
            <a:r>
              <a:rPr lang="en-US" sz="3300" dirty="0">
                <a:solidFill>
                  <a:srgbClr val="253754"/>
                </a:solidFill>
                <a:latin typeface="Glacial Indifference"/>
                <a:ea typeface="Glacial Indifference"/>
                <a:cs typeface="Glacial Indifference"/>
                <a:sym typeface="Glacial Indifference"/>
              </a:rPr>
              <a:t>Angular es una </a:t>
            </a:r>
            <a:r>
              <a:rPr lang="en-US" sz="3300" dirty="0" err="1">
                <a:solidFill>
                  <a:srgbClr val="253754"/>
                </a:solidFill>
                <a:latin typeface="Glacial Indifference"/>
                <a:ea typeface="Glacial Indifference"/>
                <a:cs typeface="Glacial Indifference"/>
                <a:sym typeface="Glacial Indifference"/>
              </a:rPr>
              <a:t>herramienta</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nos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permite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crear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aplicaciones</a:t>
            </a:r>
            <a:r>
              <a:rPr lang="en-US" sz="3300" dirty="0">
                <a:solidFill>
                  <a:srgbClr val="253754"/>
                </a:solidFill>
                <a:latin typeface="Glacial Indifference"/>
                <a:ea typeface="Glacial Indifference"/>
                <a:cs typeface="Glacial Indifference"/>
                <a:sym typeface="Glacial Indifference"/>
              </a:rPr>
              <a:t> web </a:t>
            </a:r>
            <a:r>
              <a:rPr lang="en-US" sz="3300" dirty="0" err="1">
                <a:solidFill>
                  <a:srgbClr val="253754"/>
                </a:solidFill>
                <a:latin typeface="Glacial Indifference"/>
                <a:ea typeface="Glacial Indifference"/>
                <a:cs typeface="Glacial Indifference"/>
                <a:sym typeface="Glacial Indifference"/>
              </a:rPr>
              <a:t>modernas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interactivas</a:t>
            </a:r>
            <a:r>
              <a:rPr lang="en-US" sz="3300" dirty="0">
                <a:solidFill>
                  <a:srgbClr val="253754"/>
                </a:solidFill>
                <a:latin typeface="Glacial Indifference"/>
                <a:ea typeface="Glacial Indifference"/>
                <a:cs typeface="Glacial Indifference"/>
                <a:sym typeface="Glacial Indifference"/>
              </a:rPr>
              <a:t> y </a:t>
            </a:r>
            <a:r>
              <a:rPr lang="en-US" sz="3300" dirty="0" err="1">
                <a:solidFill>
                  <a:srgbClr val="253754"/>
                </a:solidFill>
                <a:latin typeface="Glacial Indifference"/>
                <a:ea typeface="Glacial Indifference"/>
                <a:cs typeface="Glacial Indifference"/>
                <a:sym typeface="Glacial Indifference"/>
              </a:rPr>
              <a:t>escalables</a:t>
            </a:r>
            <a:r>
              <a:rPr lang="en-US" sz="3300" dirty="0">
                <a:solidFill>
                  <a:srgbClr val="253754"/>
                </a:solidFill>
                <a:latin typeface="Glacial Indifference"/>
                <a:ea typeface="Glacial Indifference"/>
                <a:cs typeface="Glacial Indifference"/>
                <a:sym typeface="Glacial Indifference"/>
              </a:rPr>
              <a:t>. Este framework de JavaScript </a:t>
            </a:r>
            <a:r>
              <a:rPr lang="en-US" sz="3300" dirty="0" err="1">
                <a:solidFill>
                  <a:srgbClr val="253754"/>
                </a:solidFill>
                <a:latin typeface="Glacial Indifference"/>
                <a:ea typeface="Glacial Indifference"/>
                <a:cs typeface="Glacial Indifference"/>
                <a:sym typeface="Glacial Indifference"/>
              </a:rPr>
              <a:t>utiliza</a:t>
            </a:r>
            <a:r>
              <a:rPr lang="en-US" sz="3300" dirty="0">
                <a:solidFill>
                  <a:srgbClr val="253754"/>
                </a:solidFill>
                <a:latin typeface="Glacial Indifference"/>
                <a:ea typeface="Glacial Indifference"/>
                <a:cs typeface="Glacial Indifference"/>
                <a:sym typeface="Glacial Indifference"/>
              </a:rPr>
              <a:t> TypeScript </a:t>
            </a:r>
            <a:r>
              <a:rPr lang="en-US" sz="3300" dirty="0" err="1">
                <a:solidFill>
                  <a:srgbClr val="253754"/>
                </a:solidFill>
                <a:latin typeface="Glacial Indifference"/>
                <a:ea typeface="Glacial Indifference"/>
                <a:cs typeface="Glacial Indifference"/>
                <a:sym typeface="Glacial Indifference"/>
              </a:rPr>
              <a:t>como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lenguaje</a:t>
            </a:r>
            <a:r>
              <a:rPr lang="en-US" sz="3300" dirty="0">
                <a:solidFill>
                  <a:srgbClr val="253754"/>
                </a:solidFill>
                <a:latin typeface="Glacial Indifference"/>
                <a:ea typeface="Glacial Indifference"/>
                <a:cs typeface="Glacial Indifference"/>
                <a:sym typeface="Glacial Indifference"/>
              </a:rPr>
              <a:t> principal, lo que </a:t>
            </a:r>
            <a:r>
              <a:rPr lang="en-US" sz="3300" dirty="0" err="1">
                <a:solidFill>
                  <a:srgbClr val="253754"/>
                </a:solidFill>
                <a:latin typeface="Glacial Indifference"/>
                <a:ea typeface="Glacial Indifference"/>
                <a:cs typeface="Glacial Indifference"/>
                <a:sym typeface="Glacial Indifference"/>
              </a:rPr>
              <a:t>facilita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desarrollo</a:t>
            </a:r>
            <a:r>
              <a:rPr lang="en-US" sz="3300" dirty="0">
                <a:solidFill>
                  <a:srgbClr val="253754"/>
                </a:solidFill>
                <a:latin typeface="Glacial Indifference"/>
                <a:ea typeface="Glacial Indifference"/>
                <a:cs typeface="Glacial Indifference"/>
                <a:sym typeface="Glacial Indifference"/>
              </a:rPr>
              <a:t> de interfaces de </a:t>
            </a:r>
            <a:r>
              <a:rPr lang="en-US" sz="3300" dirty="0" err="1">
                <a:solidFill>
                  <a:srgbClr val="253754"/>
                </a:solidFill>
                <a:latin typeface="Glacial Indifference"/>
                <a:ea typeface="Glacial Indifference"/>
                <a:cs typeface="Glacial Indifference"/>
                <a:sym typeface="Glacial Indifference"/>
              </a:rPr>
              <a:t>usuario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complejas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mediante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componentes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reutilizables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módulos</a:t>
            </a:r>
            <a:r>
              <a:rPr lang="en-US" sz="3300" dirty="0">
                <a:solidFill>
                  <a:srgbClr val="253754"/>
                </a:solidFill>
                <a:latin typeface="Glacial Indifference"/>
                <a:ea typeface="Glacial Indifference"/>
                <a:cs typeface="Glacial Indifference"/>
                <a:sym typeface="Glacial Indifference"/>
              </a:rPr>
              <a:t> y </a:t>
            </a:r>
            <a:r>
              <a:rPr lang="en-US" sz="3300" dirty="0" err="1">
                <a:solidFill>
                  <a:srgbClr val="253754"/>
                </a:solidFill>
                <a:latin typeface="Glacial Indifference"/>
                <a:ea typeface="Glacial Indifference"/>
                <a:cs typeface="Glacial Indifference"/>
                <a:sym typeface="Glacial Indifference"/>
              </a:rPr>
              <a:t>servicios</a:t>
            </a:r>
            <a:r>
              <a:rPr lang="en-US" sz="3300" dirty="0">
                <a:solidFill>
                  <a:srgbClr val="253754"/>
                </a:solidFill>
                <a:latin typeface="Glacial Indifference"/>
                <a:ea typeface="Glacial Indifference"/>
                <a:cs typeface="Glacial Indifference"/>
                <a:sym typeface="Glacial Indifference"/>
              </a:rPr>
              <a:t>. </a:t>
            </a:r>
          </a:p>
        </p:txBody>
      </p:sp>
      <p:sp>
        <p:nvSpPr>
          <p:cNvPr id="3" name="TextBox 3"/>
          <p:cNvSpPr txBox="1"/>
          <p:nvPr/>
        </p:nvSpPr>
        <p:spPr>
          <a:xfrm>
            <a:off x="3981198" y="266699"/>
            <a:ext cx="10325604" cy="762001"/>
          </a:xfrm>
          <a:prstGeom prst="rect">
            <a:avLst/>
          </a:prstGeom>
        </p:spPr>
        <p:txBody>
          <a:bodyPr lIns="0" tIns="0" rIns="0" bIns="0" rtlCol="0" anchor="t">
            <a:spAutoFit/>
          </a:bodyPr>
          <a:lstStyle/>
          <a:p>
            <a:pPr algn="ctr">
              <a:lnSpc>
                <a:spcPts val="6299"/>
              </a:lnSpc>
            </a:pPr>
            <a:r>
              <a:rPr lang="en-US" sz="4499" b="1">
                <a:solidFill>
                  <a:srgbClr val="152540"/>
                </a:solidFill>
                <a:latin typeface="Glacial Indifference Bold"/>
                <a:ea typeface="Glacial Indifference Bold"/>
                <a:cs typeface="Glacial Indifference Bold"/>
                <a:sym typeface="Glacial Indifference Bold"/>
              </a:rPr>
              <a:t>JUSTIFICACION</a:t>
            </a:r>
          </a:p>
        </p:txBody>
      </p:sp>
      <p:grpSp>
        <p:nvGrpSpPr>
          <p:cNvPr id="4" name="Group 4"/>
          <p:cNvGrpSpPr/>
          <p:nvPr/>
        </p:nvGrpSpPr>
        <p:grpSpPr>
          <a:xfrm>
            <a:off x="17259300" y="9258300"/>
            <a:ext cx="525494" cy="520700"/>
            <a:chOff x="0" y="0"/>
            <a:chExt cx="700659" cy="694267"/>
          </a:xfrm>
        </p:grpSpPr>
        <p:grpSp>
          <p:nvGrpSpPr>
            <p:cNvPr id="5" name="Group 5"/>
            <p:cNvGrpSpPr/>
            <p:nvPr/>
          </p:nvGrpSpPr>
          <p:grpSpPr>
            <a:xfrm>
              <a:off x="0" y="0"/>
              <a:ext cx="700659" cy="694267"/>
              <a:chOff x="0" y="0"/>
              <a:chExt cx="138402" cy="137139"/>
            </a:xfrm>
          </p:grpSpPr>
          <p:sp>
            <p:nvSpPr>
              <p:cNvPr id="6" name="Freeform 6"/>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7" name="TextBox 7"/>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8" name="TextBox 8"/>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4</a:t>
              </a: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5</a:t>
              </a:r>
            </a:p>
          </p:txBody>
        </p:sp>
      </p:grpSp>
      <p:sp>
        <p:nvSpPr>
          <p:cNvPr id="7" name="TextBox 7"/>
          <p:cNvSpPr txBox="1"/>
          <p:nvPr/>
        </p:nvSpPr>
        <p:spPr>
          <a:xfrm>
            <a:off x="1028700" y="1266632"/>
            <a:ext cx="16230600" cy="2792431"/>
          </a:xfrm>
          <a:prstGeom prst="rect">
            <a:avLst/>
          </a:prstGeom>
        </p:spPr>
        <p:txBody>
          <a:bodyPr lIns="0" tIns="0" rIns="0" bIns="0" rtlCol="0" anchor="t">
            <a:spAutoFit/>
          </a:bodyPr>
          <a:lstStyle/>
          <a:p>
            <a:pPr algn="just">
              <a:lnSpc>
                <a:spcPts val="4374"/>
              </a:lnSpc>
            </a:pPr>
            <a:r>
              <a:rPr lang="en-US" sz="3499" dirty="0">
                <a:solidFill>
                  <a:srgbClr val="253754"/>
                </a:solidFill>
                <a:latin typeface="Glacial Indifference"/>
                <a:ea typeface="Glacial Indifference"/>
                <a:cs typeface="Glacial Indifference"/>
                <a:sym typeface="Glacial Indifference"/>
              </a:rPr>
              <a:t>A </a:t>
            </a:r>
            <a:r>
              <a:rPr lang="en-US" sz="3499" dirty="0" err="1">
                <a:solidFill>
                  <a:srgbClr val="253754"/>
                </a:solidFill>
                <a:latin typeface="Glacial Indifference"/>
                <a:ea typeface="Glacial Indifference"/>
                <a:cs typeface="Glacial Indifference"/>
                <a:sym typeface="Glacial Indifference"/>
              </a:rPr>
              <a:t>través</a:t>
            </a:r>
            <a:r>
              <a:rPr lang="en-US" sz="3499" dirty="0">
                <a:solidFill>
                  <a:srgbClr val="253754"/>
                </a:solidFill>
                <a:latin typeface="Glacial Indifference"/>
                <a:ea typeface="Glacial Indifference"/>
                <a:cs typeface="Glacial Indifference"/>
                <a:sym typeface="Glacial Indifference"/>
              </a:rPr>
              <a:t> de </a:t>
            </a:r>
            <a:r>
              <a:rPr lang="en-US" sz="3499" dirty="0" err="1">
                <a:solidFill>
                  <a:srgbClr val="253754"/>
                </a:solidFill>
                <a:latin typeface="Glacial Indifference"/>
                <a:ea typeface="Glacial Indifference"/>
                <a:cs typeface="Glacial Indifference"/>
                <a:sym typeface="Glacial Indifference"/>
              </a:rPr>
              <a:t>esta</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práctica</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llevé</a:t>
            </a:r>
            <a:r>
              <a:rPr lang="en-US" sz="3499" dirty="0">
                <a:solidFill>
                  <a:srgbClr val="253754"/>
                </a:solidFill>
                <a:latin typeface="Glacial Indifference"/>
                <a:ea typeface="Glacial Indifference"/>
                <a:cs typeface="Glacial Indifference"/>
                <a:sym typeface="Glacial Indifference"/>
              </a:rPr>
              <a:t> a </a:t>
            </a:r>
            <a:r>
              <a:rPr lang="en-US" sz="3499" dirty="0" err="1">
                <a:solidFill>
                  <a:srgbClr val="253754"/>
                </a:solidFill>
                <a:latin typeface="Glacial Indifference"/>
                <a:ea typeface="Glacial Indifference"/>
                <a:cs typeface="Glacial Indifference"/>
                <a:sym typeface="Glacial Indifference"/>
              </a:rPr>
              <a:t>cabo</a:t>
            </a:r>
            <a:r>
              <a:rPr lang="en-US" sz="3499" dirty="0">
                <a:solidFill>
                  <a:srgbClr val="253754"/>
                </a:solidFill>
                <a:latin typeface="Glacial Indifference"/>
                <a:ea typeface="Glacial Indifference"/>
                <a:cs typeface="Glacial Indifference"/>
                <a:sym typeface="Glacial Indifference"/>
              </a:rPr>
              <a:t> la </a:t>
            </a:r>
            <a:r>
              <a:rPr lang="en-US" sz="3499" dirty="0" err="1">
                <a:solidFill>
                  <a:srgbClr val="253754"/>
                </a:solidFill>
                <a:latin typeface="Glacial Indifference"/>
                <a:ea typeface="Glacial Indifference"/>
                <a:cs typeface="Glacial Indifference"/>
                <a:sym typeface="Glacial Indifference"/>
              </a:rPr>
              <a:t>implementación</a:t>
            </a:r>
            <a:r>
              <a:rPr lang="en-US" sz="3499" dirty="0">
                <a:solidFill>
                  <a:srgbClr val="253754"/>
                </a:solidFill>
                <a:latin typeface="Glacial Indifference"/>
                <a:ea typeface="Glacial Indifference"/>
                <a:cs typeface="Glacial Indifference"/>
                <a:sym typeface="Glacial Indifference"/>
              </a:rPr>
              <a:t> de la </a:t>
            </a:r>
            <a:r>
              <a:rPr lang="en-US" sz="3499" dirty="0" err="1">
                <a:solidFill>
                  <a:srgbClr val="253754"/>
                </a:solidFill>
                <a:latin typeface="Glacial Indifference"/>
                <a:ea typeface="Glacial Indifference"/>
                <a:cs typeface="Glacial Indifference"/>
                <a:sym typeface="Glacial Indifference"/>
              </a:rPr>
              <a:t>herramienta</a:t>
            </a:r>
            <a:r>
              <a:rPr lang="en-US" sz="3499" dirty="0">
                <a:solidFill>
                  <a:srgbClr val="253754"/>
                </a:solidFill>
                <a:latin typeface="Glacial Indifference"/>
                <a:ea typeface="Glacial Indifference"/>
                <a:cs typeface="Glacial Indifference"/>
                <a:sym typeface="Glacial Indifference"/>
              </a:rPr>
              <a:t> Angular con </a:t>
            </a:r>
            <a:r>
              <a:rPr lang="en-US" sz="3499" dirty="0" err="1">
                <a:solidFill>
                  <a:srgbClr val="253754"/>
                </a:solidFill>
                <a:latin typeface="Glacial Indifference"/>
                <a:ea typeface="Glacial Indifference"/>
                <a:cs typeface="Glacial Indifference"/>
                <a:sym typeface="Glacial Indifference"/>
              </a:rPr>
              <a:t>el</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objetivo</a:t>
            </a:r>
            <a:r>
              <a:rPr lang="en-US" sz="3499" dirty="0">
                <a:solidFill>
                  <a:srgbClr val="253754"/>
                </a:solidFill>
                <a:latin typeface="Glacial Indifference"/>
                <a:ea typeface="Glacial Indifference"/>
                <a:cs typeface="Glacial Indifference"/>
                <a:sym typeface="Glacial Indifference"/>
              </a:rPr>
              <a:t> de </a:t>
            </a:r>
            <a:r>
              <a:rPr lang="en-US" sz="3499" dirty="0" err="1">
                <a:solidFill>
                  <a:srgbClr val="253754"/>
                </a:solidFill>
                <a:latin typeface="Glacial Indifference"/>
                <a:ea typeface="Glacial Indifference"/>
                <a:cs typeface="Glacial Indifference"/>
                <a:sym typeface="Glacial Indifference"/>
              </a:rPr>
              <a:t>desarrollar</a:t>
            </a:r>
            <a:r>
              <a:rPr lang="en-US" sz="3499" dirty="0">
                <a:solidFill>
                  <a:srgbClr val="253754"/>
                </a:solidFill>
                <a:latin typeface="Glacial Indifference"/>
                <a:ea typeface="Glacial Indifference"/>
                <a:cs typeface="Glacial Indifference"/>
                <a:sym typeface="Glacial Indifference"/>
              </a:rPr>
              <a:t> una </a:t>
            </a:r>
            <a:r>
              <a:rPr lang="en-US" sz="3499" dirty="0" err="1">
                <a:solidFill>
                  <a:srgbClr val="253754"/>
                </a:solidFill>
                <a:latin typeface="Glacial Indifference"/>
                <a:ea typeface="Glacial Indifference"/>
                <a:cs typeface="Glacial Indifference"/>
                <a:sym typeface="Glacial Indifference"/>
              </a:rPr>
              <a:t>interfaz</a:t>
            </a:r>
            <a:r>
              <a:rPr lang="en-US" sz="3499" dirty="0">
                <a:solidFill>
                  <a:srgbClr val="253754"/>
                </a:solidFill>
                <a:latin typeface="Glacial Indifference"/>
                <a:ea typeface="Glacial Indifference"/>
                <a:cs typeface="Glacial Indifference"/>
                <a:sym typeface="Glacial Indifference"/>
              </a:rPr>
              <a:t> web que </a:t>
            </a:r>
            <a:r>
              <a:rPr lang="en-US" sz="3499" dirty="0" err="1">
                <a:solidFill>
                  <a:srgbClr val="253754"/>
                </a:solidFill>
                <a:latin typeface="Glacial Indifference"/>
                <a:ea typeface="Glacial Indifference"/>
                <a:cs typeface="Glacial Indifference"/>
                <a:sym typeface="Glacial Indifference"/>
              </a:rPr>
              <a:t>permita</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consumir</a:t>
            </a:r>
            <a:r>
              <a:rPr lang="en-US" sz="3499" dirty="0">
                <a:solidFill>
                  <a:srgbClr val="253754"/>
                </a:solidFill>
                <a:latin typeface="Glacial Indifference"/>
                <a:ea typeface="Glacial Indifference"/>
                <a:cs typeface="Glacial Indifference"/>
                <a:sym typeface="Glacial Indifference"/>
              </a:rPr>
              <a:t> de </a:t>
            </a:r>
            <a:r>
              <a:rPr lang="en-US" sz="3499" dirty="0" err="1">
                <a:solidFill>
                  <a:srgbClr val="253754"/>
                </a:solidFill>
                <a:latin typeface="Glacial Indifference"/>
                <a:ea typeface="Glacial Indifference"/>
                <a:cs typeface="Glacial Indifference"/>
                <a:sym typeface="Glacial Indifference"/>
              </a:rPr>
              <a:t>manera</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eficiente</a:t>
            </a:r>
            <a:r>
              <a:rPr lang="en-US" sz="3499" dirty="0">
                <a:solidFill>
                  <a:srgbClr val="253754"/>
                </a:solidFill>
                <a:latin typeface="Glacial Indifference"/>
                <a:ea typeface="Glacial Indifference"/>
                <a:cs typeface="Glacial Indifference"/>
                <a:sym typeface="Glacial Indifference"/>
              </a:rPr>
              <a:t> los </a:t>
            </a:r>
            <a:r>
              <a:rPr lang="en-US" sz="3499" dirty="0" err="1">
                <a:solidFill>
                  <a:srgbClr val="253754"/>
                </a:solidFill>
                <a:latin typeface="Glacial Indifference"/>
                <a:ea typeface="Glacial Indifference"/>
                <a:cs typeface="Glacial Indifference"/>
                <a:sym typeface="Glacial Indifference"/>
              </a:rPr>
              <a:t>microservicios</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creados</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anteriormente</a:t>
            </a:r>
            <a:r>
              <a:rPr lang="en-US" sz="3499" dirty="0">
                <a:solidFill>
                  <a:srgbClr val="253754"/>
                </a:solidFill>
                <a:latin typeface="Glacial Indifference"/>
                <a:ea typeface="Glacial Indifference"/>
                <a:cs typeface="Glacial Indifference"/>
                <a:sym typeface="Glacial Indifference"/>
              </a:rPr>
              <a:t>.</a:t>
            </a:r>
          </a:p>
          <a:p>
            <a:pPr algn="just">
              <a:lnSpc>
                <a:spcPts val="4374"/>
              </a:lnSpc>
            </a:pPr>
            <a:endParaRPr lang="en-US" sz="3499" dirty="0">
              <a:solidFill>
                <a:srgbClr val="253754"/>
              </a:solidFill>
              <a:latin typeface="Glacial Indifference"/>
              <a:ea typeface="Glacial Indifference"/>
              <a:cs typeface="Glacial Indifference"/>
              <a:sym typeface="Glacial Indifference"/>
            </a:endParaRPr>
          </a:p>
          <a:p>
            <a:pPr algn="just">
              <a:lnSpc>
                <a:spcPts val="4374"/>
              </a:lnSpc>
            </a:pPr>
            <a:r>
              <a:rPr lang="en-US" sz="3499" dirty="0">
                <a:solidFill>
                  <a:srgbClr val="253754"/>
                </a:solidFill>
                <a:latin typeface="Glacial Indifference"/>
                <a:ea typeface="Glacial Indifference"/>
                <a:cs typeface="Glacial Indifference"/>
                <a:sym typeface="Glacial Indifference"/>
              </a:rPr>
              <a:t>Los pasos que </a:t>
            </a:r>
            <a:r>
              <a:rPr lang="en-US" sz="3499" dirty="0" err="1">
                <a:solidFill>
                  <a:srgbClr val="253754"/>
                </a:solidFill>
                <a:latin typeface="Glacial Indifference"/>
                <a:ea typeface="Glacial Indifference"/>
                <a:cs typeface="Glacial Indifference"/>
                <a:sym typeface="Glacial Indifference"/>
              </a:rPr>
              <a:t>llevé</a:t>
            </a:r>
            <a:r>
              <a:rPr lang="en-US" sz="3499" dirty="0">
                <a:solidFill>
                  <a:srgbClr val="253754"/>
                </a:solidFill>
                <a:latin typeface="Glacial Indifference"/>
                <a:ea typeface="Glacial Indifference"/>
                <a:cs typeface="Glacial Indifference"/>
                <a:sym typeface="Glacial Indifference"/>
              </a:rPr>
              <a:t> a </a:t>
            </a:r>
            <a:r>
              <a:rPr lang="en-US" sz="3499" dirty="0" err="1">
                <a:solidFill>
                  <a:srgbClr val="253754"/>
                </a:solidFill>
                <a:latin typeface="Glacial Indifference"/>
                <a:ea typeface="Glacial Indifference"/>
                <a:cs typeface="Glacial Indifference"/>
                <a:sym typeface="Glacial Indifference"/>
              </a:rPr>
              <a:t>cabo</a:t>
            </a:r>
            <a:r>
              <a:rPr lang="en-US" sz="3499" dirty="0">
                <a:solidFill>
                  <a:srgbClr val="253754"/>
                </a:solidFill>
                <a:latin typeface="Glacial Indifference"/>
                <a:ea typeface="Glacial Indifference"/>
                <a:cs typeface="Glacial Indifference"/>
                <a:sym typeface="Glacial Indifference"/>
              </a:rPr>
              <a:t> para </a:t>
            </a:r>
            <a:r>
              <a:rPr lang="en-US" sz="3499" dirty="0" err="1">
                <a:solidFill>
                  <a:srgbClr val="253754"/>
                </a:solidFill>
                <a:latin typeface="Glacial Indifference"/>
                <a:ea typeface="Glacial Indifference"/>
                <a:cs typeface="Glacial Indifference"/>
                <a:sym typeface="Glacial Indifference"/>
              </a:rPr>
              <a:t>realizar</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esto</a:t>
            </a:r>
            <a:r>
              <a:rPr lang="en-US" sz="3499" dirty="0">
                <a:solidFill>
                  <a:srgbClr val="253754"/>
                </a:solidFill>
                <a:latin typeface="Glacial Indifference"/>
                <a:ea typeface="Glacial Indifference"/>
                <a:cs typeface="Glacial Indifference"/>
                <a:sym typeface="Glacial Indifference"/>
              </a:rPr>
              <a:t>, </a:t>
            </a:r>
            <a:r>
              <a:rPr lang="en-US" sz="3499" dirty="0" err="1">
                <a:solidFill>
                  <a:srgbClr val="253754"/>
                </a:solidFill>
                <a:latin typeface="Glacial Indifference"/>
                <a:ea typeface="Glacial Indifference"/>
                <a:cs typeface="Glacial Indifference"/>
                <a:sym typeface="Glacial Indifference"/>
              </a:rPr>
              <a:t>fueron</a:t>
            </a:r>
            <a:r>
              <a:rPr lang="en-US" sz="3499" dirty="0">
                <a:solidFill>
                  <a:srgbClr val="253754"/>
                </a:solidFill>
                <a:latin typeface="Glacial Indifference"/>
                <a:ea typeface="Glacial Indifference"/>
                <a:cs typeface="Glacial Indifference"/>
                <a:sym typeface="Glacial Indifference"/>
              </a:rPr>
              <a:t> los </a:t>
            </a:r>
            <a:r>
              <a:rPr lang="en-US" sz="3499" dirty="0" err="1">
                <a:solidFill>
                  <a:srgbClr val="253754"/>
                </a:solidFill>
                <a:latin typeface="Glacial Indifference"/>
                <a:ea typeface="Glacial Indifference"/>
                <a:cs typeface="Glacial Indifference"/>
                <a:sym typeface="Glacial Indifference"/>
              </a:rPr>
              <a:t>siguientes</a:t>
            </a:r>
            <a:r>
              <a:rPr lang="en-US" sz="3499" dirty="0">
                <a:solidFill>
                  <a:srgbClr val="253754"/>
                </a:solidFill>
                <a:latin typeface="Glacial Indifference"/>
                <a:ea typeface="Glacial Indifference"/>
                <a:cs typeface="Glacial Indifference"/>
                <a:sym typeface="Glacial Indifference"/>
              </a:rPr>
              <a:t>:</a:t>
            </a:r>
          </a:p>
        </p:txBody>
      </p:sp>
      <p:sp>
        <p:nvSpPr>
          <p:cNvPr id="8" name="TextBox 8"/>
          <p:cNvSpPr txBox="1"/>
          <p:nvPr/>
        </p:nvSpPr>
        <p:spPr>
          <a:xfrm>
            <a:off x="2590800" y="266700"/>
            <a:ext cx="13106400" cy="750205"/>
          </a:xfrm>
          <a:prstGeom prst="rect">
            <a:avLst/>
          </a:prstGeom>
        </p:spPr>
        <p:txBody>
          <a:bodyPr wrap="square" lIns="0" tIns="0" rIns="0" bIns="0" rtlCol="0" anchor="t">
            <a:spAutoFit/>
          </a:bodyPr>
          <a:lstStyle/>
          <a:p>
            <a:pPr algn="ctr">
              <a:lnSpc>
                <a:spcPts val="6299"/>
              </a:lnSpc>
            </a:pPr>
            <a:r>
              <a:rPr lang="en-US" sz="4499" b="1" dirty="0">
                <a:solidFill>
                  <a:srgbClr val="152540"/>
                </a:solidFill>
                <a:latin typeface="Glacial Indifference Bold"/>
                <a:ea typeface="Glacial Indifference Bold"/>
                <a:cs typeface="Glacial Indifference Bold"/>
                <a:sym typeface="Glacial Indifference Bold"/>
              </a:rPr>
              <a:t>CONSUMO DE MICROSERVICIOS CON ANGULAR</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6</a:t>
              </a:r>
            </a:p>
          </p:txBody>
        </p:sp>
      </p:grpSp>
      <p:sp>
        <p:nvSpPr>
          <p:cNvPr id="8" name="TextBox 8"/>
          <p:cNvSpPr txBox="1"/>
          <p:nvPr/>
        </p:nvSpPr>
        <p:spPr>
          <a:xfrm>
            <a:off x="1028700" y="1177277"/>
            <a:ext cx="16230600" cy="877570"/>
          </a:xfrm>
          <a:prstGeom prst="rect">
            <a:avLst/>
          </a:prstGeom>
        </p:spPr>
        <p:txBody>
          <a:bodyPr lIns="0" tIns="0" rIns="0" bIns="0" rtlCol="0" anchor="t">
            <a:spAutoFit/>
          </a:bodyPr>
          <a:lstStyle/>
          <a:p>
            <a:pPr algn="just">
              <a:lnSpc>
                <a:spcPts val="3500"/>
              </a:lnSpc>
            </a:pPr>
            <a:r>
              <a:rPr lang="en-US" sz="2800" b="1">
                <a:solidFill>
                  <a:srgbClr val="253754"/>
                </a:solidFill>
                <a:latin typeface="Glacial Indifference Bold"/>
                <a:ea typeface="Glacial Indifference Bold"/>
                <a:cs typeface="Glacial Indifference Bold"/>
                <a:sym typeface="Glacial Indifference Bold"/>
              </a:rPr>
              <a:t>Paso 1: </a:t>
            </a:r>
            <a:r>
              <a:rPr lang="en-US" sz="2800">
                <a:solidFill>
                  <a:srgbClr val="253754"/>
                </a:solidFill>
                <a:latin typeface="Glacial Indifference"/>
                <a:ea typeface="Glacial Indifference"/>
                <a:cs typeface="Glacial Indifference"/>
                <a:sym typeface="Glacial Indifference"/>
              </a:rPr>
              <a:t>para llevar a cabo la creación de un proyecto en Angular, accedí primeramente mi explorador de archivos y una carpeta llamada </a:t>
            </a:r>
            <a:r>
              <a:rPr lang="en-US" sz="2800" b="1">
                <a:solidFill>
                  <a:srgbClr val="253754"/>
                </a:solidFill>
                <a:latin typeface="Glacial Indifference Bold"/>
                <a:ea typeface="Glacial Indifference Bold"/>
                <a:cs typeface="Glacial Indifference Bold"/>
                <a:sym typeface="Glacial Indifference Bold"/>
              </a:rPr>
              <a:t>“Angular”.</a:t>
            </a:r>
          </a:p>
        </p:txBody>
      </p:sp>
      <p:sp>
        <p:nvSpPr>
          <p:cNvPr id="9" name="TextBox 9"/>
          <p:cNvSpPr txBox="1"/>
          <p:nvPr/>
        </p:nvSpPr>
        <p:spPr>
          <a:xfrm>
            <a:off x="-90528" y="382270"/>
            <a:ext cx="18469056" cy="646430"/>
          </a:xfrm>
          <a:prstGeom prst="rect">
            <a:avLst/>
          </a:prstGeom>
        </p:spPr>
        <p:txBody>
          <a:bodyPr lIns="0" tIns="0" rIns="0" bIns="0" rtlCol="0" anchor="t">
            <a:spAutoFit/>
          </a:bodyPr>
          <a:lstStyle/>
          <a:p>
            <a:pPr algn="ctr">
              <a:lnSpc>
                <a:spcPts val="5319"/>
              </a:lnSpc>
            </a:pPr>
            <a:r>
              <a:rPr lang="en-US" sz="3799" b="1">
                <a:solidFill>
                  <a:srgbClr val="152540"/>
                </a:solidFill>
                <a:latin typeface="Glacial Indifference Bold"/>
                <a:ea typeface="Glacial Indifference Bold"/>
                <a:cs typeface="Glacial Indifference Bold"/>
                <a:sym typeface="Glacial Indifference Bold"/>
              </a:rPr>
              <a:t>CREACION DE UN PROYECTO EN ANGULAR</a:t>
            </a:r>
          </a:p>
        </p:txBody>
      </p:sp>
      <p:pic>
        <p:nvPicPr>
          <p:cNvPr id="11" name="Imagen 10">
            <a:extLst>
              <a:ext uri="{FF2B5EF4-FFF2-40B4-BE49-F238E27FC236}">
                <a16:creationId xmlns:a16="http://schemas.microsoft.com/office/drawing/2014/main" id="{06700902-0371-484B-BBE0-0C5F410EEAB8}"/>
              </a:ext>
            </a:extLst>
          </p:cNvPr>
          <p:cNvPicPr>
            <a:picLocks noChangeAspect="1"/>
          </p:cNvPicPr>
          <p:nvPr/>
        </p:nvPicPr>
        <p:blipFill rotWithShape="1">
          <a:blip r:embed="rId2"/>
          <a:srcRect b="4938"/>
          <a:stretch/>
        </p:blipFill>
        <p:spPr>
          <a:xfrm>
            <a:off x="2244436" y="2400300"/>
            <a:ext cx="13799127" cy="73787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7</a:t>
              </a:r>
            </a:p>
          </p:txBody>
        </p:sp>
      </p:grpSp>
      <p:sp>
        <p:nvSpPr>
          <p:cNvPr id="10" name="TextBox 10"/>
          <p:cNvSpPr txBox="1"/>
          <p:nvPr/>
        </p:nvSpPr>
        <p:spPr>
          <a:xfrm>
            <a:off x="1028700" y="621030"/>
            <a:ext cx="16230600" cy="439420"/>
          </a:xfrm>
          <a:prstGeom prst="rect">
            <a:avLst/>
          </a:prstGeom>
        </p:spPr>
        <p:txBody>
          <a:bodyPr lIns="0" tIns="0" rIns="0" bIns="0" rtlCol="0" anchor="t">
            <a:spAutoFit/>
          </a:bodyPr>
          <a:lstStyle/>
          <a:p>
            <a:pPr algn="just">
              <a:lnSpc>
                <a:spcPts val="3500"/>
              </a:lnSpc>
            </a:pPr>
            <a:r>
              <a:rPr lang="en-US" sz="2800" b="1">
                <a:solidFill>
                  <a:srgbClr val="253754"/>
                </a:solidFill>
                <a:latin typeface="Glacial Indifference Bold"/>
                <a:ea typeface="Glacial Indifference Bold"/>
                <a:cs typeface="Glacial Indifference Bold"/>
                <a:sym typeface="Glacial Indifference Bold"/>
              </a:rPr>
              <a:t>Paso 2:</a:t>
            </a:r>
            <a:r>
              <a:rPr lang="en-US" sz="2800">
                <a:solidFill>
                  <a:srgbClr val="253754"/>
                </a:solidFill>
                <a:latin typeface="Glacial Indifference"/>
                <a:ea typeface="Glacial Indifference"/>
                <a:cs typeface="Glacial Indifference"/>
                <a:sym typeface="Glacial Indifference"/>
              </a:rPr>
              <a:t> dentro de esa carpeta cree otra carpeta llamada </a:t>
            </a:r>
            <a:r>
              <a:rPr lang="en-US" sz="2800" b="1">
                <a:solidFill>
                  <a:srgbClr val="253754"/>
                </a:solidFill>
                <a:latin typeface="Glacial Indifference Bold"/>
                <a:ea typeface="Glacial Indifference Bold"/>
                <a:cs typeface="Glacial Indifference Bold"/>
                <a:sym typeface="Glacial Indifference Bold"/>
              </a:rPr>
              <a:t>“cursos-app”.</a:t>
            </a:r>
          </a:p>
        </p:txBody>
      </p:sp>
      <p:pic>
        <p:nvPicPr>
          <p:cNvPr id="12" name="Imagen 11">
            <a:extLst>
              <a:ext uri="{FF2B5EF4-FFF2-40B4-BE49-F238E27FC236}">
                <a16:creationId xmlns:a16="http://schemas.microsoft.com/office/drawing/2014/main" id="{12200B2F-A2D7-47A5-A16C-F77D04F11B60}"/>
              </a:ext>
            </a:extLst>
          </p:cNvPr>
          <p:cNvPicPr>
            <a:picLocks noChangeAspect="1"/>
          </p:cNvPicPr>
          <p:nvPr/>
        </p:nvPicPr>
        <p:blipFill rotWithShape="1">
          <a:blip r:embed="rId2"/>
          <a:srcRect b="4938"/>
          <a:stretch/>
        </p:blipFill>
        <p:spPr>
          <a:xfrm>
            <a:off x="1409700" y="1434571"/>
            <a:ext cx="15468600" cy="8271404"/>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8</a:t>
              </a:r>
            </a:p>
          </p:txBody>
        </p:sp>
      </p:grpSp>
      <p:sp>
        <p:nvSpPr>
          <p:cNvPr id="7" name="Freeform 7"/>
          <p:cNvSpPr/>
          <p:nvPr/>
        </p:nvSpPr>
        <p:spPr>
          <a:xfrm>
            <a:off x="2198240" y="2019300"/>
            <a:ext cx="13891520" cy="7467599"/>
          </a:xfrm>
          <a:custGeom>
            <a:avLst/>
            <a:gdLst/>
            <a:ahLst/>
            <a:cxnLst/>
            <a:rect l="l" t="t" r="r" b="b"/>
            <a:pathLst>
              <a:path w="13891519" h="7813979">
                <a:moveTo>
                  <a:pt x="0" y="0"/>
                </a:moveTo>
                <a:lnTo>
                  <a:pt x="13891518" y="0"/>
                </a:lnTo>
                <a:lnTo>
                  <a:pt x="13891518" y="7813979"/>
                </a:lnTo>
                <a:lnTo>
                  <a:pt x="0" y="7813979"/>
                </a:lnTo>
                <a:lnTo>
                  <a:pt x="0" y="0"/>
                </a:lnTo>
                <a:close/>
              </a:path>
            </a:pathLst>
          </a:custGeom>
          <a:blipFill>
            <a:blip r:embed="rId2"/>
            <a:stretch>
              <a:fillRect t="1" b="-4638"/>
            </a:stretch>
          </a:blipFill>
        </p:spPr>
        <p:txBody>
          <a:bodyPr/>
          <a:lstStyle/>
          <a:p>
            <a:endParaRPr/>
          </a:p>
        </p:txBody>
      </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253754"/>
                </a:solidFill>
                <a:latin typeface="Glacial Indifference Bold"/>
                <a:ea typeface="Glacial Indifference Bold"/>
                <a:cs typeface="Glacial Indifference Bold"/>
                <a:sym typeface="Glacial Indifference Bold"/>
              </a:rPr>
              <a:t>Paso 3:</a:t>
            </a:r>
            <a:r>
              <a:rPr lang="en-US" sz="2800">
                <a:solidFill>
                  <a:srgbClr val="253754"/>
                </a:solidFill>
                <a:latin typeface="Glacial Indifference"/>
                <a:ea typeface="Glacial Indifference"/>
                <a:cs typeface="Glacial Indifference"/>
                <a:sym typeface="Glacial Indifference"/>
              </a:rPr>
              <a:t> hecho lo anterior abrí dicha carpeta en Visual Studio Code, para ello di clic derecho y seleccione la opción </a:t>
            </a:r>
            <a:r>
              <a:rPr lang="en-US" sz="2800" b="1">
                <a:solidFill>
                  <a:srgbClr val="253754"/>
                </a:solidFill>
                <a:latin typeface="Glacial Indifference Bold"/>
                <a:ea typeface="Glacial Indifference Bold"/>
                <a:cs typeface="Glacial Indifference Bold"/>
                <a:sym typeface="Glacial Indifference Bold"/>
              </a:rPr>
              <a:t>“Abrir con Code”.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9</a:t>
              </a:r>
            </a:p>
          </p:txBody>
        </p:sp>
      </p:grpSp>
      <p:sp>
        <p:nvSpPr>
          <p:cNvPr id="7" name="Freeform 7"/>
          <p:cNvSpPr/>
          <p:nvPr/>
        </p:nvSpPr>
        <p:spPr>
          <a:xfrm>
            <a:off x="2046666" y="2040978"/>
            <a:ext cx="14194667" cy="7616200"/>
          </a:xfrm>
          <a:custGeom>
            <a:avLst/>
            <a:gdLst/>
            <a:ahLst/>
            <a:cxnLst/>
            <a:rect l="l" t="t" r="r" b="b"/>
            <a:pathLst>
              <a:path w="14194667" h="7984499">
                <a:moveTo>
                  <a:pt x="0" y="0"/>
                </a:moveTo>
                <a:lnTo>
                  <a:pt x="14194666" y="0"/>
                </a:lnTo>
                <a:lnTo>
                  <a:pt x="14194666" y="7984500"/>
                </a:lnTo>
                <a:lnTo>
                  <a:pt x="0" y="7984500"/>
                </a:lnTo>
                <a:lnTo>
                  <a:pt x="0" y="0"/>
                </a:lnTo>
                <a:close/>
              </a:path>
            </a:pathLst>
          </a:custGeom>
          <a:blipFill>
            <a:blip r:embed="rId2"/>
            <a:stretch>
              <a:fillRect t="1" b="-4837"/>
            </a:stretch>
          </a:blipFill>
        </p:spPr>
        <p:txBody>
          <a:bodyPr/>
          <a:lstStyle/>
          <a:p>
            <a:endParaRPr/>
          </a:p>
        </p:txBody>
      </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253754"/>
                </a:solidFill>
                <a:latin typeface="Glacial Indifference Bold"/>
                <a:ea typeface="Glacial Indifference Bold"/>
                <a:cs typeface="Glacial Indifference Bold"/>
                <a:sym typeface="Glacial Indifference Bold"/>
              </a:rPr>
              <a:t>Paso 4:</a:t>
            </a:r>
            <a:r>
              <a:rPr lang="en-US" sz="2800">
                <a:solidFill>
                  <a:srgbClr val="253754"/>
                </a:solidFill>
                <a:latin typeface="Glacial Indifference"/>
                <a:ea typeface="Glacial Indifference"/>
                <a:cs typeface="Glacial Indifference"/>
                <a:sym typeface="Glacial Indifference"/>
              </a:rPr>
              <a:t> hecho lo anterior automáticamente se abrió  la carpeta en Visual Studio Code, al mismo tiempo me apareció en siguiente mensaje donde seleccione</a:t>
            </a:r>
            <a:r>
              <a:rPr lang="en-US" sz="2800" b="1">
                <a:solidFill>
                  <a:srgbClr val="253754"/>
                </a:solidFill>
                <a:latin typeface="Glacial Indifference Bold"/>
                <a:ea typeface="Glacial Indifference Bold"/>
                <a:cs typeface="Glacial Indifference Bold"/>
                <a:sym typeface="Glacial Indifference Bold"/>
              </a:rPr>
              <a:t> “Sí confío en los autores”</a:t>
            </a:r>
            <a:r>
              <a:rPr lang="en-US" sz="2800">
                <a:solidFill>
                  <a:srgbClr val="253754"/>
                </a:solidFill>
                <a:latin typeface="Glacial Indifference"/>
                <a:ea typeface="Glacial Indifference"/>
                <a:cs typeface="Glacial Indifference"/>
                <a:sym typeface="Glacial Indifference"/>
              </a:rPr>
              <a:t>, para poder continuar.</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10</a:t>
              </a:r>
            </a:p>
          </p:txBody>
        </p:sp>
      </p:grpSp>
      <p:sp>
        <p:nvSpPr>
          <p:cNvPr id="7" name="Freeform 7"/>
          <p:cNvSpPr/>
          <p:nvPr/>
        </p:nvSpPr>
        <p:spPr>
          <a:xfrm>
            <a:off x="2449492" y="2464849"/>
            <a:ext cx="13389015" cy="7163021"/>
          </a:xfrm>
          <a:custGeom>
            <a:avLst/>
            <a:gdLst/>
            <a:ahLst/>
            <a:cxnLst/>
            <a:rect l="l" t="t" r="r" b="b"/>
            <a:pathLst>
              <a:path w="13389015" h="7531320">
                <a:moveTo>
                  <a:pt x="0" y="0"/>
                </a:moveTo>
                <a:lnTo>
                  <a:pt x="13389016" y="0"/>
                </a:lnTo>
                <a:lnTo>
                  <a:pt x="13389016" y="7531321"/>
                </a:lnTo>
                <a:lnTo>
                  <a:pt x="0" y="7531321"/>
                </a:lnTo>
                <a:lnTo>
                  <a:pt x="0" y="0"/>
                </a:lnTo>
                <a:close/>
              </a:path>
            </a:pathLst>
          </a:custGeom>
          <a:blipFill>
            <a:blip r:embed="rId2"/>
            <a:stretch>
              <a:fillRect b="-5142"/>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5:</a:t>
            </a:r>
            <a:r>
              <a:rPr lang="en-US" sz="2800">
                <a:solidFill>
                  <a:srgbClr val="000000"/>
                </a:solidFill>
                <a:latin typeface="Glacial Indifference"/>
                <a:ea typeface="Glacial Indifference"/>
                <a:cs typeface="Glacial Indifference"/>
                <a:sym typeface="Glacial Indifference"/>
              </a:rPr>
              <a:t> para continuar abrí la terminal de visual Studio Code y ejecute los comandos: npm install -g @angular/cli, ng new cursos-app, cd cursos-app y finalmente ng serve -o</a:t>
            </a:r>
            <a:r>
              <a:rPr lang="en-US" sz="2800" b="1">
                <a:solidFill>
                  <a:srgbClr val="000000"/>
                </a:solidFill>
                <a:latin typeface="Glacial Indifference Bold"/>
                <a:ea typeface="Glacial Indifference Bold"/>
                <a:cs typeface="Glacial Indifference Bold"/>
                <a:sym typeface="Glacial Indifference Bold"/>
              </a:rPr>
              <a:t>,</a:t>
            </a:r>
            <a:r>
              <a:rPr lang="en-US" sz="2800">
                <a:solidFill>
                  <a:srgbClr val="FF3131"/>
                </a:solidFill>
                <a:latin typeface="Glacial Indifference"/>
                <a:ea typeface="Glacial Indifference"/>
                <a:cs typeface="Glacial Indifference"/>
                <a:sym typeface="Glacial Indifference"/>
              </a:rPr>
              <a:t> </a:t>
            </a:r>
            <a:r>
              <a:rPr lang="en-US" sz="2800">
                <a:solidFill>
                  <a:srgbClr val="000000"/>
                </a:solidFill>
                <a:latin typeface="Glacial Indifference"/>
                <a:ea typeface="Glacial Indifference"/>
                <a:cs typeface="Glacial Indifference"/>
                <a:sym typeface="Glacial Indifference"/>
              </a:rPr>
              <a:t>al ejecutar dichos comandos automáticamente comenzó a instalar los paquetes y dependencias del proyecto.</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11</a:t>
              </a:r>
            </a:p>
          </p:txBody>
        </p:sp>
      </p:grpSp>
      <p:sp>
        <p:nvSpPr>
          <p:cNvPr id="7" name="Freeform 7"/>
          <p:cNvSpPr/>
          <p:nvPr/>
        </p:nvSpPr>
        <p:spPr>
          <a:xfrm>
            <a:off x="310095" y="2817179"/>
            <a:ext cx="8685660" cy="4652642"/>
          </a:xfrm>
          <a:custGeom>
            <a:avLst/>
            <a:gdLst/>
            <a:ahLst/>
            <a:cxnLst/>
            <a:rect l="l" t="t" r="r" b="b"/>
            <a:pathLst>
              <a:path w="8685660" h="4885684">
                <a:moveTo>
                  <a:pt x="0" y="0"/>
                </a:moveTo>
                <a:lnTo>
                  <a:pt x="8685660" y="0"/>
                </a:lnTo>
                <a:lnTo>
                  <a:pt x="8685660" y="4885684"/>
                </a:lnTo>
                <a:lnTo>
                  <a:pt x="0" y="4885684"/>
                </a:lnTo>
                <a:lnTo>
                  <a:pt x="0" y="0"/>
                </a:lnTo>
                <a:close/>
              </a:path>
            </a:pathLst>
          </a:custGeom>
          <a:blipFill>
            <a:blip r:embed="rId2"/>
            <a:stretch>
              <a:fillRect t="-1" b="-5008"/>
            </a:stretch>
          </a:blipFill>
        </p:spPr>
        <p:txBody>
          <a:bodyPr/>
          <a:lstStyle/>
          <a:p>
            <a:endParaRPr/>
          </a:p>
        </p:txBody>
      </p:sp>
      <p:sp>
        <p:nvSpPr>
          <p:cNvPr id="8" name="Freeform 8"/>
          <p:cNvSpPr/>
          <p:nvPr/>
        </p:nvSpPr>
        <p:spPr>
          <a:xfrm>
            <a:off x="9292245" y="2817179"/>
            <a:ext cx="8685660" cy="4652642"/>
          </a:xfrm>
          <a:custGeom>
            <a:avLst/>
            <a:gdLst/>
            <a:ahLst/>
            <a:cxnLst/>
            <a:rect l="l" t="t" r="r" b="b"/>
            <a:pathLst>
              <a:path w="8685660" h="4885684">
                <a:moveTo>
                  <a:pt x="0" y="0"/>
                </a:moveTo>
                <a:lnTo>
                  <a:pt x="8685660" y="0"/>
                </a:lnTo>
                <a:lnTo>
                  <a:pt x="8685660" y="4885684"/>
                </a:lnTo>
                <a:lnTo>
                  <a:pt x="0" y="4885684"/>
                </a:lnTo>
                <a:lnTo>
                  <a:pt x="0" y="0"/>
                </a:lnTo>
                <a:close/>
              </a:path>
            </a:pathLst>
          </a:custGeom>
          <a:blipFill>
            <a:blip r:embed="rId3"/>
            <a:stretch>
              <a:fillRect t="-1" b="-5008"/>
            </a:stretch>
          </a:blipFill>
        </p:spPr>
        <p:txBody>
          <a:bodyPr/>
          <a:lstStyle/>
          <a:p>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12</a:t>
              </a:r>
            </a:p>
          </p:txBody>
        </p:sp>
      </p:grpSp>
      <p:sp>
        <p:nvSpPr>
          <p:cNvPr id="7" name="Freeform 7"/>
          <p:cNvSpPr/>
          <p:nvPr/>
        </p:nvSpPr>
        <p:spPr>
          <a:xfrm>
            <a:off x="310268" y="2858690"/>
            <a:ext cx="8687367" cy="4653122"/>
          </a:xfrm>
          <a:custGeom>
            <a:avLst/>
            <a:gdLst/>
            <a:ahLst/>
            <a:cxnLst/>
            <a:rect l="l" t="t" r="r" b="b"/>
            <a:pathLst>
              <a:path w="8687367" h="4886644">
                <a:moveTo>
                  <a:pt x="0" y="0"/>
                </a:moveTo>
                <a:lnTo>
                  <a:pt x="8687367" y="0"/>
                </a:lnTo>
                <a:lnTo>
                  <a:pt x="8687367" y="4886644"/>
                </a:lnTo>
                <a:lnTo>
                  <a:pt x="0" y="4886644"/>
                </a:lnTo>
                <a:lnTo>
                  <a:pt x="0" y="0"/>
                </a:lnTo>
                <a:close/>
              </a:path>
            </a:pathLst>
          </a:custGeom>
          <a:blipFill>
            <a:blip r:embed="rId2"/>
            <a:stretch>
              <a:fillRect b="-5019"/>
            </a:stretch>
          </a:blipFill>
        </p:spPr>
        <p:txBody>
          <a:bodyPr/>
          <a:lstStyle/>
          <a:p>
            <a:endParaRPr/>
          </a:p>
        </p:txBody>
      </p:sp>
      <p:grpSp>
        <p:nvGrpSpPr>
          <p:cNvPr id="11" name="Grupo 10">
            <a:extLst>
              <a:ext uri="{FF2B5EF4-FFF2-40B4-BE49-F238E27FC236}">
                <a16:creationId xmlns:a16="http://schemas.microsoft.com/office/drawing/2014/main" id="{E3AB12CA-2F0B-4824-9261-FBEDB803E4D4}"/>
              </a:ext>
            </a:extLst>
          </p:cNvPr>
          <p:cNvGrpSpPr/>
          <p:nvPr/>
        </p:nvGrpSpPr>
        <p:grpSpPr>
          <a:xfrm>
            <a:off x="9290365" y="2858690"/>
            <a:ext cx="8687367" cy="4653122"/>
            <a:chOff x="9290365" y="2858690"/>
            <a:chExt cx="8687367" cy="4653122"/>
          </a:xfrm>
        </p:grpSpPr>
        <p:sp>
          <p:nvSpPr>
            <p:cNvPr id="8" name="Freeform 8"/>
            <p:cNvSpPr/>
            <p:nvPr/>
          </p:nvSpPr>
          <p:spPr>
            <a:xfrm>
              <a:off x="9290365" y="2858690"/>
              <a:ext cx="8687367" cy="4653122"/>
            </a:xfrm>
            <a:custGeom>
              <a:avLst/>
              <a:gdLst/>
              <a:ahLst/>
              <a:cxnLst/>
              <a:rect l="l" t="t" r="r" b="b"/>
              <a:pathLst>
                <a:path w="8687367" h="4886644">
                  <a:moveTo>
                    <a:pt x="0" y="0"/>
                  </a:moveTo>
                  <a:lnTo>
                    <a:pt x="8687367" y="0"/>
                  </a:lnTo>
                  <a:lnTo>
                    <a:pt x="8687367" y="4886644"/>
                  </a:lnTo>
                  <a:lnTo>
                    <a:pt x="0" y="4886644"/>
                  </a:lnTo>
                  <a:lnTo>
                    <a:pt x="0" y="0"/>
                  </a:lnTo>
                  <a:close/>
                </a:path>
              </a:pathLst>
            </a:custGeom>
            <a:blipFill>
              <a:blip r:embed="rId3"/>
              <a:stretch>
                <a:fillRect b="-5019"/>
              </a:stretch>
            </a:blipFill>
          </p:spPr>
          <p:txBody>
            <a:bodyPr/>
            <a:lstStyle/>
            <a:p>
              <a:endParaRPr dirty="0"/>
            </a:p>
          </p:txBody>
        </p:sp>
        <p:sp>
          <p:nvSpPr>
            <p:cNvPr id="9" name="Freeform 8">
              <a:extLst>
                <a:ext uri="{FF2B5EF4-FFF2-40B4-BE49-F238E27FC236}">
                  <a16:creationId xmlns:a16="http://schemas.microsoft.com/office/drawing/2014/main" id="{D853B5CB-11B9-458C-98E0-B26CD5C652DF}"/>
                </a:ext>
              </a:extLst>
            </p:cNvPr>
            <p:cNvSpPr/>
            <p:nvPr/>
          </p:nvSpPr>
          <p:spPr>
            <a:xfrm>
              <a:off x="13681710" y="6667500"/>
              <a:ext cx="152400" cy="609600"/>
            </a:xfrm>
            <a:custGeom>
              <a:avLst/>
              <a:gdLst/>
              <a:ahLst/>
              <a:cxnLst/>
              <a:rect l="l" t="t" r="r" b="b"/>
              <a:pathLst>
                <a:path w="8687367" h="4886644">
                  <a:moveTo>
                    <a:pt x="0" y="0"/>
                  </a:moveTo>
                  <a:lnTo>
                    <a:pt x="8687367" y="0"/>
                  </a:lnTo>
                  <a:lnTo>
                    <a:pt x="8687367" y="4886644"/>
                  </a:lnTo>
                  <a:lnTo>
                    <a:pt x="0" y="4886644"/>
                  </a:lnTo>
                  <a:lnTo>
                    <a:pt x="0" y="0"/>
                  </a:lnTo>
                  <a:close/>
                </a:path>
              </a:pathLst>
            </a:custGeom>
            <a:blipFill>
              <a:blip r:embed="rId3"/>
              <a:stretch>
                <a:fillRect l="-789767" t="-1199618" r="-376983" b="-303620"/>
              </a:stretch>
            </a:blipFill>
          </p:spPr>
          <p:txBody>
            <a:bodyPr/>
            <a:lstStyle/>
            <a:p>
              <a:endParaRPr/>
            </a:p>
          </p:txBody>
        </p:sp>
        <p:sp>
          <p:nvSpPr>
            <p:cNvPr id="10" name="Freeform 8">
              <a:extLst>
                <a:ext uri="{FF2B5EF4-FFF2-40B4-BE49-F238E27FC236}">
                  <a16:creationId xmlns:a16="http://schemas.microsoft.com/office/drawing/2014/main" id="{E2BEE40F-573B-4B4A-8506-C022F0CD1456}"/>
                </a:ext>
              </a:extLst>
            </p:cNvPr>
            <p:cNvSpPr/>
            <p:nvPr/>
          </p:nvSpPr>
          <p:spPr>
            <a:xfrm>
              <a:off x="13834110" y="6611302"/>
              <a:ext cx="368930" cy="721995"/>
            </a:xfrm>
            <a:custGeom>
              <a:avLst/>
              <a:gdLst/>
              <a:ahLst/>
              <a:cxnLst/>
              <a:rect l="l" t="t" r="r" b="b"/>
              <a:pathLst>
                <a:path w="8687367" h="4886644">
                  <a:moveTo>
                    <a:pt x="0" y="0"/>
                  </a:moveTo>
                  <a:lnTo>
                    <a:pt x="8687367" y="0"/>
                  </a:lnTo>
                  <a:lnTo>
                    <a:pt x="8687367" y="4886644"/>
                  </a:lnTo>
                  <a:lnTo>
                    <a:pt x="0" y="4886644"/>
                  </a:lnTo>
                  <a:lnTo>
                    <a:pt x="0" y="0"/>
                  </a:lnTo>
                  <a:close/>
                </a:path>
              </a:pathLst>
            </a:custGeom>
            <a:blipFill>
              <a:blip r:embed="rId3"/>
              <a:stretch>
                <a:fillRect l="-789767" t="-1199618" r="-376983" b="-303620"/>
              </a:stretch>
            </a:blipFill>
          </p:spPr>
          <p:txBody>
            <a:bodyPr/>
            <a:lstStyle/>
            <a:p>
              <a:endParaRP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13</a:t>
              </a:r>
            </a:p>
          </p:txBody>
        </p:sp>
      </p:gr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6:</a:t>
            </a:r>
            <a:r>
              <a:rPr lang="en-US" sz="2800">
                <a:solidFill>
                  <a:srgbClr val="000000"/>
                </a:solidFill>
                <a:latin typeface="Glacial Indifference"/>
                <a:ea typeface="Glacial Indifference"/>
                <a:cs typeface="Glacial Indifference"/>
                <a:sym typeface="Glacial Indifference"/>
              </a:rPr>
              <a:t> después de instalar todos los paquetes y dependencias, me mostro automáticamente la ruta del servidor de desarrollo local, como </a:t>
            </a:r>
            <a:r>
              <a:rPr lang="en-US" sz="2800" b="1">
                <a:solidFill>
                  <a:srgbClr val="000000"/>
                </a:solidFill>
                <a:latin typeface="Glacial Indifference Bold"/>
                <a:ea typeface="Glacial Indifference Bold"/>
                <a:cs typeface="Glacial Indifference Bold"/>
                <a:sym typeface="Glacial Indifference Bold"/>
              </a:rPr>
              <a:t>http://localhost:4200/</a:t>
            </a:r>
            <a:r>
              <a:rPr lang="en-US" sz="2800">
                <a:solidFill>
                  <a:srgbClr val="000000"/>
                </a:solidFill>
                <a:latin typeface="Glacial Indifference"/>
                <a:ea typeface="Glacial Indifference"/>
                <a:cs typeface="Glacial Indifference"/>
                <a:sym typeface="Glacial Indifference"/>
              </a:rPr>
              <a:t>. </a:t>
            </a:r>
          </a:p>
        </p:txBody>
      </p:sp>
      <p:grpSp>
        <p:nvGrpSpPr>
          <p:cNvPr id="10" name="Grupo 9">
            <a:extLst>
              <a:ext uri="{FF2B5EF4-FFF2-40B4-BE49-F238E27FC236}">
                <a16:creationId xmlns:a16="http://schemas.microsoft.com/office/drawing/2014/main" id="{F12DAC30-8866-4544-9E5B-468870D61B48}"/>
              </a:ext>
            </a:extLst>
          </p:cNvPr>
          <p:cNvGrpSpPr/>
          <p:nvPr/>
        </p:nvGrpSpPr>
        <p:grpSpPr>
          <a:xfrm>
            <a:off x="2261035" y="2111865"/>
            <a:ext cx="13765929" cy="7406785"/>
            <a:chOff x="2261035" y="2259185"/>
            <a:chExt cx="13765929" cy="7406785"/>
          </a:xfrm>
        </p:grpSpPr>
        <p:sp>
          <p:nvSpPr>
            <p:cNvPr id="7" name="Freeform 7"/>
            <p:cNvSpPr/>
            <p:nvPr/>
          </p:nvSpPr>
          <p:spPr>
            <a:xfrm>
              <a:off x="2261035" y="2259185"/>
              <a:ext cx="13765929" cy="7406785"/>
            </a:xfrm>
            <a:custGeom>
              <a:avLst/>
              <a:gdLst/>
              <a:ahLst/>
              <a:cxnLst/>
              <a:rect l="l" t="t" r="r" b="b"/>
              <a:pathLst>
                <a:path w="13765929" h="7743335">
                  <a:moveTo>
                    <a:pt x="0" y="0"/>
                  </a:moveTo>
                  <a:lnTo>
                    <a:pt x="13765930" y="0"/>
                  </a:lnTo>
                  <a:lnTo>
                    <a:pt x="13765930" y="7743335"/>
                  </a:lnTo>
                  <a:lnTo>
                    <a:pt x="0" y="7743335"/>
                  </a:lnTo>
                  <a:lnTo>
                    <a:pt x="0" y="0"/>
                  </a:lnTo>
                  <a:close/>
                </a:path>
              </a:pathLst>
            </a:custGeom>
            <a:blipFill>
              <a:blip r:embed="rId2"/>
              <a:stretch>
                <a:fillRect b="-4543"/>
              </a:stretch>
            </a:blipFill>
          </p:spPr>
          <p:txBody>
            <a:bodyPr/>
            <a:lstStyle/>
            <a:p>
              <a:endParaRPr dirty="0"/>
            </a:p>
          </p:txBody>
        </p:sp>
        <p:sp>
          <p:nvSpPr>
            <p:cNvPr id="9" name="Freeform 7">
              <a:extLst>
                <a:ext uri="{FF2B5EF4-FFF2-40B4-BE49-F238E27FC236}">
                  <a16:creationId xmlns:a16="http://schemas.microsoft.com/office/drawing/2014/main" id="{7FA7F6B1-64C6-4F9A-96DE-40675085B644}"/>
                </a:ext>
              </a:extLst>
            </p:cNvPr>
            <p:cNvSpPr/>
            <p:nvPr/>
          </p:nvSpPr>
          <p:spPr>
            <a:xfrm flipH="1">
              <a:off x="9220199" y="7875415"/>
              <a:ext cx="807719" cy="304800"/>
            </a:xfrm>
            <a:custGeom>
              <a:avLst/>
              <a:gdLst/>
              <a:ahLst/>
              <a:cxnLst/>
              <a:rect l="l" t="t" r="r" b="b"/>
              <a:pathLst>
                <a:path w="13765929" h="7743335">
                  <a:moveTo>
                    <a:pt x="0" y="0"/>
                  </a:moveTo>
                  <a:lnTo>
                    <a:pt x="13765930" y="0"/>
                  </a:lnTo>
                  <a:lnTo>
                    <a:pt x="13765930" y="7743335"/>
                  </a:lnTo>
                  <a:lnTo>
                    <a:pt x="0" y="7743335"/>
                  </a:lnTo>
                  <a:lnTo>
                    <a:pt x="0" y="0"/>
                  </a:lnTo>
                  <a:close/>
                </a:path>
              </a:pathLst>
            </a:custGeom>
            <a:blipFill>
              <a:blip r:embed="rId2"/>
              <a:stretch>
                <a:fillRect l="-757096" t="-1946299" r="-691380" b="-494131"/>
              </a:stretch>
            </a:blipFill>
          </p:spPr>
          <p:txBody>
            <a:bodyPr/>
            <a:lstStyle/>
            <a:p>
              <a:endParaRPr dirty="0"/>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14</a:t>
              </a:r>
            </a:p>
          </p:txBody>
        </p:sp>
      </p:grpSp>
      <p:sp>
        <p:nvSpPr>
          <p:cNvPr id="7" name="Freeform 7"/>
          <p:cNvSpPr/>
          <p:nvPr/>
        </p:nvSpPr>
        <p:spPr>
          <a:xfrm>
            <a:off x="2508539" y="2569376"/>
            <a:ext cx="13270922" cy="7096594"/>
          </a:xfrm>
          <a:custGeom>
            <a:avLst/>
            <a:gdLst/>
            <a:ahLst/>
            <a:cxnLst/>
            <a:rect l="l" t="t" r="r" b="b"/>
            <a:pathLst>
              <a:path w="13270922" h="7464894">
                <a:moveTo>
                  <a:pt x="0" y="0"/>
                </a:moveTo>
                <a:lnTo>
                  <a:pt x="13270922" y="0"/>
                </a:lnTo>
                <a:lnTo>
                  <a:pt x="13270922" y="7464894"/>
                </a:lnTo>
                <a:lnTo>
                  <a:pt x="0" y="7464894"/>
                </a:lnTo>
                <a:lnTo>
                  <a:pt x="0" y="0"/>
                </a:lnTo>
                <a:close/>
              </a:path>
            </a:pathLst>
          </a:custGeom>
          <a:blipFill>
            <a:blip r:embed="rId2"/>
            <a:stretch>
              <a:fillRect b="-5404"/>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7:</a:t>
            </a:r>
            <a:r>
              <a:rPr lang="en-US" sz="2800">
                <a:solidFill>
                  <a:srgbClr val="000000"/>
                </a:solidFill>
                <a:latin typeface="Glacial Indifference"/>
                <a:ea typeface="Glacial Indifference"/>
                <a:cs typeface="Glacial Indifference"/>
                <a:sym typeface="Glacial Indifference"/>
              </a:rPr>
              <a:t> al acceder a la ruta del servidor de desarrollo local (dirección locahost) http://localhost:4200/ pude visualizar el contenido web de mi app React en tiempo real, aunque este caso solo aparecio un mensaje de bienvenida porque aun falta programar el contenido.​</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15</a:t>
              </a:r>
            </a:p>
          </p:txBody>
        </p:sp>
      </p:grpSp>
      <p:sp>
        <p:nvSpPr>
          <p:cNvPr id="7" name="Freeform 7"/>
          <p:cNvSpPr/>
          <p:nvPr/>
        </p:nvSpPr>
        <p:spPr>
          <a:xfrm>
            <a:off x="3023717" y="3042259"/>
            <a:ext cx="12240566" cy="6593218"/>
          </a:xfrm>
          <a:custGeom>
            <a:avLst/>
            <a:gdLst/>
            <a:ahLst/>
            <a:cxnLst/>
            <a:rect l="l" t="t" r="r" b="b"/>
            <a:pathLst>
              <a:path w="12240566" h="6885317">
                <a:moveTo>
                  <a:pt x="0" y="0"/>
                </a:moveTo>
                <a:lnTo>
                  <a:pt x="12240566" y="0"/>
                </a:lnTo>
                <a:lnTo>
                  <a:pt x="12240566" y="6885318"/>
                </a:lnTo>
                <a:lnTo>
                  <a:pt x="0" y="6885318"/>
                </a:lnTo>
                <a:lnTo>
                  <a:pt x="0" y="0"/>
                </a:lnTo>
                <a:close/>
              </a:path>
            </a:pathLst>
          </a:custGeom>
          <a:blipFill>
            <a:blip r:embed="rId2"/>
            <a:stretch>
              <a:fillRect b="-4430"/>
            </a:stretch>
          </a:blipFill>
        </p:spPr>
        <p:txBody>
          <a:bodyPr/>
          <a:lstStyle/>
          <a:p>
            <a:endParaRPr/>
          </a:p>
        </p:txBody>
      </p:sp>
      <p:sp>
        <p:nvSpPr>
          <p:cNvPr id="8" name="TextBox 8"/>
          <p:cNvSpPr txBox="1"/>
          <p:nvPr/>
        </p:nvSpPr>
        <p:spPr>
          <a:xfrm>
            <a:off x="1028700" y="1177277"/>
            <a:ext cx="16230600" cy="1716405"/>
          </a:xfrm>
          <a:prstGeom prst="rect">
            <a:avLst/>
          </a:prstGeom>
        </p:spPr>
        <p:txBody>
          <a:bodyPr lIns="0" tIns="0" rIns="0" bIns="0" rtlCol="0" anchor="t">
            <a:spAutoFit/>
          </a:bodyPr>
          <a:lstStyle/>
          <a:p>
            <a:pPr algn="just">
              <a:lnSpc>
                <a:spcPts val="3375"/>
              </a:lnSpc>
            </a:pPr>
            <a:r>
              <a:rPr lang="en-US" sz="2700" b="1">
                <a:solidFill>
                  <a:srgbClr val="253754"/>
                </a:solidFill>
                <a:latin typeface="Glacial Indifference Bold"/>
                <a:ea typeface="Glacial Indifference Bold"/>
                <a:cs typeface="Glacial Indifference Bold"/>
                <a:sym typeface="Glacial Indifference Bold"/>
              </a:rPr>
              <a:t>Paso 8: </a:t>
            </a:r>
            <a:r>
              <a:rPr lang="en-US" sz="2700">
                <a:solidFill>
                  <a:srgbClr val="253754"/>
                </a:solidFill>
                <a:latin typeface="Glacial Indifference"/>
                <a:ea typeface="Glacial Indifference"/>
                <a:cs typeface="Glacial Indifference"/>
                <a:sym typeface="Glacial Indifference"/>
              </a:rPr>
              <a:t>para continuar procedí a programar el frontend, es decir el contenido que se mostrara en la pagina web, para ello comencé creando un componente llamado “”courses”, psara ello abri nuevamente la terminal de Visual Studio Code y ejecute el comando </a:t>
            </a:r>
            <a:r>
              <a:rPr lang="en-US" sz="2700" b="1">
                <a:solidFill>
                  <a:srgbClr val="253754"/>
                </a:solidFill>
                <a:latin typeface="Glacial Indifference Bold"/>
                <a:ea typeface="Glacial Indifference Bold"/>
                <a:cs typeface="Glacial Indifference Bold"/>
                <a:sym typeface="Glacial Indifference Bold"/>
              </a:rPr>
              <a:t>“ng generate component courses”.</a:t>
            </a:r>
          </a:p>
          <a:p>
            <a:pPr algn="just">
              <a:lnSpc>
                <a:spcPts val="3375"/>
              </a:lnSpc>
            </a:pPr>
            <a:endParaRPr lang="en-US" sz="2700" b="1">
              <a:solidFill>
                <a:srgbClr val="253754"/>
              </a:solidFill>
              <a:latin typeface="Glacial Indifference Bold"/>
              <a:ea typeface="Glacial Indifference Bold"/>
              <a:cs typeface="Glacial Indifference Bold"/>
              <a:sym typeface="Glacial Indifference Bold"/>
            </a:endParaRPr>
          </a:p>
        </p:txBody>
      </p:sp>
      <p:sp>
        <p:nvSpPr>
          <p:cNvPr id="9" name="TextBox 9"/>
          <p:cNvSpPr txBox="1"/>
          <p:nvPr/>
        </p:nvSpPr>
        <p:spPr>
          <a:xfrm>
            <a:off x="-90528" y="382270"/>
            <a:ext cx="18469056" cy="646430"/>
          </a:xfrm>
          <a:prstGeom prst="rect">
            <a:avLst/>
          </a:prstGeom>
        </p:spPr>
        <p:txBody>
          <a:bodyPr lIns="0" tIns="0" rIns="0" bIns="0" rtlCol="0" anchor="t">
            <a:spAutoFit/>
          </a:bodyPr>
          <a:lstStyle/>
          <a:p>
            <a:pPr algn="ctr">
              <a:lnSpc>
                <a:spcPts val="5319"/>
              </a:lnSpc>
            </a:pPr>
            <a:r>
              <a:rPr lang="en-US" sz="3799" b="1">
                <a:solidFill>
                  <a:srgbClr val="152540"/>
                </a:solidFill>
                <a:latin typeface="Glacial Indifference Bold"/>
                <a:ea typeface="Glacial Indifference Bold"/>
                <a:cs typeface="Glacial Indifference Bold"/>
                <a:sym typeface="Glacial Indifference Bold"/>
              </a:rPr>
              <a:t>PROGRAMACION DEL FRONTEND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16</a:t>
              </a:r>
            </a:p>
          </p:txBody>
        </p:sp>
      </p:grpSp>
      <p:sp>
        <p:nvSpPr>
          <p:cNvPr id="7" name="Freeform 7"/>
          <p:cNvSpPr/>
          <p:nvPr/>
        </p:nvSpPr>
        <p:spPr>
          <a:xfrm>
            <a:off x="1666817" y="1622439"/>
            <a:ext cx="14954366" cy="8043531"/>
          </a:xfrm>
          <a:custGeom>
            <a:avLst/>
            <a:gdLst/>
            <a:ahLst/>
            <a:cxnLst/>
            <a:rect l="l" t="t" r="r" b="b"/>
            <a:pathLst>
              <a:path w="14954366" h="8411831">
                <a:moveTo>
                  <a:pt x="0" y="0"/>
                </a:moveTo>
                <a:lnTo>
                  <a:pt x="14954366" y="0"/>
                </a:lnTo>
                <a:lnTo>
                  <a:pt x="14954366" y="8411831"/>
                </a:lnTo>
                <a:lnTo>
                  <a:pt x="0" y="8411831"/>
                </a:lnTo>
                <a:lnTo>
                  <a:pt x="0" y="0"/>
                </a:lnTo>
                <a:close/>
              </a:path>
            </a:pathLst>
          </a:custGeom>
          <a:blipFill>
            <a:blip r:embed="rId2"/>
            <a:stretch>
              <a:fillRect t="-1" b="-4578"/>
            </a:stretch>
          </a:blipFill>
        </p:spPr>
        <p:txBody>
          <a:bodyPr/>
          <a:lstStyle/>
          <a:p>
            <a:endParaRPr/>
          </a:p>
        </p:txBody>
      </p:sp>
      <p:sp>
        <p:nvSpPr>
          <p:cNvPr id="8" name="TextBox 8"/>
          <p:cNvSpPr txBox="1"/>
          <p:nvPr/>
        </p:nvSpPr>
        <p:spPr>
          <a:xfrm>
            <a:off x="1028700" y="598170"/>
            <a:ext cx="16230600" cy="430530"/>
          </a:xfrm>
          <a:prstGeom prst="rect">
            <a:avLst/>
          </a:prstGeom>
        </p:spPr>
        <p:txBody>
          <a:bodyPr lIns="0" tIns="0" rIns="0" bIns="0" rtlCol="0" anchor="t">
            <a:spAutoFit/>
          </a:bodyPr>
          <a:lstStyle/>
          <a:p>
            <a:pPr algn="just">
              <a:lnSpc>
                <a:spcPts val="3375"/>
              </a:lnSpc>
            </a:pPr>
            <a:r>
              <a:rPr lang="en-US" sz="2700" b="1">
                <a:solidFill>
                  <a:srgbClr val="000000"/>
                </a:solidFill>
                <a:latin typeface="Glacial Indifference Bold"/>
                <a:ea typeface="Glacial Indifference Bold"/>
                <a:cs typeface="Glacial Indifference Bold"/>
                <a:sym typeface="Glacial Indifference Bold"/>
              </a:rPr>
              <a:t>Paso 9: </a:t>
            </a:r>
            <a:r>
              <a:rPr lang="en-US" sz="2700">
                <a:solidFill>
                  <a:srgbClr val="000000"/>
                </a:solidFill>
                <a:latin typeface="Glacial Indifference"/>
                <a:ea typeface="Glacial Indifference"/>
                <a:cs typeface="Glacial Indifference"/>
                <a:sym typeface="Glacial Indifference"/>
              </a:rPr>
              <a:t>hecho lo anterior pude comprobar que el componente se creo correctamente.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17</a:t>
              </a:r>
            </a:p>
          </p:txBody>
        </p:sp>
      </p:grpSp>
      <p:sp>
        <p:nvSpPr>
          <p:cNvPr id="7" name="Freeform 7"/>
          <p:cNvSpPr/>
          <p:nvPr/>
        </p:nvSpPr>
        <p:spPr>
          <a:xfrm>
            <a:off x="2439810" y="2532061"/>
            <a:ext cx="13408380" cy="7173914"/>
          </a:xfrm>
          <a:custGeom>
            <a:avLst/>
            <a:gdLst/>
            <a:ahLst/>
            <a:cxnLst/>
            <a:rect l="l" t="t" r="r" b="b"/>
            <a:pathLst>
              <a:path w="13408380" h="7542214">
                <a:moveTo>
                  <a:pt x="0" y="0"/>
                </a:moveTo>
                <a:lnTo>
                  <a:pt x="13408380" y="0"/>
                </a:lnTo>
                <a:lnTo>
                  <a:pt x="13408380" y="7542214"/>
                </a:lnTo>
                <a:lnTo>
                  <a:pt x="0" y="7542214"/>
                </a:lnTo>
                <a:lnTo>
                  <a:pt x="0" y="0"/>
                </a:lnTo>
                <a:close/>
              </a:path>
            </a:pathLst>
          </a:custGeom>
          <a:blipFill>
            <a:blip r:embed="rId2"/>
            <a:stretch>
              <a:fillRect b="-5134"/>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10:</a:t>
            </a:r>
            <a:r>
              <a:rPr lang="en-US" sz="2800">
                <a:solidFill>
                  <a:srgbClr val="000000"/>
                </a:solidFill>
                <a:latin typeface="Glacial Indifference"/>
                <a:ea typeface="Glacial Indifference"/>
                <a:cs typeface="Glacial Indifference"/>
                <a:sym typeface="Glacial Indifference"/>
              </a:rPr>
              <a:t> hecho lo anterior procedí a programar el código de los archivos, para ello comencé programando el código del archivo “StudentForm.jsx” el cual se encarga de redirigir cualquier ruta desconocida hacia la principal. El código quedo de la siguiente forma:</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18</a:t>
              </a:r>
            </a:p>
          </p:txBody>
        </p:sp>
      </p:grpSp>
      <p:sp>
        <p:nvSpPr>
          <p:cNvPr id="7" name="Freeform 7"/>
          <p:cNvSpPr/>
          <p:nvPr/>
        </p:nvSpPr>
        <p:spPr>
          <a:xfrm>
            <a:off x="2465583" y="2497420"/>
            <a:ext cx="13356833" cy="7144918"/>
          </a:xfrm>
          <a:custGeom>
            <a:avLst/>
            <a:gdLst/>
            <a:ahLst/>
            <a:cxnLst/>
            <a:rect l="l" t="t" r="r" b="b"/>
            <a:pathLst>
              <a:path w="13356833" h="7513218">
                <a:moveTo>
                  <a:pt x="0" y="0"/>
                </a:moveTo>
                <a:lnTo>
                  <a:pt x="13356832" y="0"/>
                </a:lnTo>
                <a:lnTo>
                  <a:pt x="13356832" y="7513218"/>
                </a:lnTo>
                <a:lnTo>
                  <a:pt x="0" y="7513218"/>
                </a:lnTo>
                <a:lnTo>
                  <a:pt x="0" y="0"/>
                </a:lnTo>
                <a:close/>
              </a:path>
            </a:pathLst>
          </a:custGeom>
          <a:blipFill>
            <a:blip r:embed="rId2"/>
            <a:stretch>
              <a:fillRect b="-5155"/>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11:</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“app.ts”</a:t>
            </a:r>
            <a:r>
              <a:rPr lang="en-US" sz="2800">
                <a:solidFill>
                  <a:srgbClr val="000000"/>
                </a:solidFill>
                <a:latin typeface="Glacial Indifference"/>
                <a:ea typeface="Glacial Indifference"/>
                <a:cs typeface="Glacial Indifference"/>
                <a:sym typeface="Glacial Indifference"/>
              </a:rPr>
              <a:t> el cual a</a:t>
            </a:r>
            <a:r>
              <a:rPr lang="en-US" sz="2800">
                <a:solidFill>
                  <a:srgbClr val="253754"/>
                </a:solidFill>
                <a:latin typeface="Glacial Indifference"/>
                <a:ea typeface="Glacial Indifference"/>
                <a:cs typeface="Glacial Indifference"/>
                <a:sym typeface="Glacial Indifference"/>
              </a:rPr>
              <a:t>ctúa como contenedor general de la interfaz, aplica el estilo global de fondo y delega todo el contenido real al componente de cursos según la configuración de rutas. </a:t>
            </a:r>
            <a:r>
              <a:rPr lang="en-US" sz="2800">
                <a:solidFill>
                  <a:srgbClr val="000000"/>
                </a:solidFill>
                <a:latin typeface="Glacial Indifference"/>
                <a:ea typeface="Glacial Indifference"/>
                <a:cs typeface="Glacial Indifference"/>
                <a:sym typeface="Glacial Indifference"/>
              </a:rPr>
              <a:t>El código quedo de la siguiente forma:</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19</a:t>
              </a:r>
            </a:p>
          </p:txBody>
        </p:sp>
      </p:grpSp>
      <p:sp>
        <p:nvSpPr>
          <p:cNvPr id="7" name="Freeform 7"/>
          <p:cNvSpPr/>
          <p:nvPr/>
        </p:nvSpPr>
        <p:spPr>
          <a:xfrm>
            <a:off x="2403889" y="2501175"/>
            <a:ext cx="13480222" cy="7214325"/>
          </a:xfrm>
          <a:custGeom>
            <a:avLst/>
            <a:gdLst/>
            <a:ahLst/>
            <a:cxnLst/>
            <a:rect l="l" t="t" r="r" b="b"/>
            <a:pathLst>
              <a:path w="13480222" h="7582625">
                <a:moveTo>
                  <a:pt x="0" y="0"/>
                </a:moveTo>
                <a:lnTo>
                  <a:pt x="13480222" y="0"/>
                </a:lnTo>
                <a:lnTo>
                  <a:pt x="13480222" y="7582625"/>
                </a:lnTo>
                <a:lnTo>
                  <a:pt x="0" y="7582625"/>
                </a:lnTo>
                <a:lnTo>
                  <a:pt x="0" y="0"/>
                </a:lnTo>
                <a:close/>
              </a:path>
            </a:pathLst>
          </a:custGeom>
          <a:blipFill>
            <a:blip r:embed="rId2"/>
            <a:stretch>
              <a:fillRect t="1" b="-5106"/>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12:</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“app.css”</a:t>
            </a:r>
            <a:r>
              <a:rPr lang="en-US" sz="2800">
                <a:solidFill>
                  <a:srgbClr val="000000"/>
                </a:solidFill>
                <a:latin typeface="Glacial Indifference"/>
                <a:ea typeface="Glacial Indifference"/>
                <a:cs typeface="Glacial Indifference"/>
                <a:sym typeface="Glacial Indifference"/>
              </a:rPr>
              <a:t> el cual define el fondo general y el layout base donde luego se dibuja el componente de cursos. El código quedo de la siguiente forma:</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20</a:t>
              </a:r>
            </a:p>
          </p:txBody>
        </p:sp>
      </p:grpSp>
      <p:sp>
        <p:nvSpPr>
          <p:cNvPr id="7" name="Freeform 7"/>
          <p:cNvSpPr/>
          <p:nvPr/>
        </p:nvSpPr>
        <p:spPr>
          <a:xfrm>
            <a:off x="3493370" y="3531262"/>
            <a:ext cx="11301259" cy="6096608"/>
          </a:xfrm>
          <a:custGeom>
            <a:avLst/>
            <a:gdLst/>
            <a:ahLst/>
            <a:cxnLst/>
            <a:rect l="l" t="t" r="r" b="b"/>
            <a:pathLst>
              <a:path w="11301259" h="6356958">
                <a:moveTo>
                  <a:pt x="0" y="0"/>
                </a:moveTo>
                <a:lnTo>
                  <a:pt x="11301258" y="0"/>
                </a:lnTo>
                <a:lnTo>
                  <a:pt x="11301258" y="6356958"/>
                </a:lnTo>
                <a:lnTo>
                  <a:pt x="0" y="6356958"/>
                </a:lnTo>
                <a:lnTo>
                  <a:pt x="0" y="0"/>
                </a:lnTo>
                <a:close/>
              </a:path>
            </a:pathLst>
          </a:custGeom>
          <a:blipFill>
            <a:blip r:embed="rId2"/>
            <a:stretch>
              <a:fillRect b="-4270"/>
            </a:stretch>
          </a:blipFill>
        </p:spPr>
        <p:txBody>
          <a:bodyPr/>
          <a:lstStyle/>
          <a:p>
            <a:endParaRPr/>
          </a:p>
        </p:txBody>
      </p:sp>
      <p:sp>
        <p:nvSpPr>
          <p:cNvPr id="8" name="TextBox 8"/>
          <p:cNvSpPr txBox="1"/>
          <p:nvPr/>
        </p:nvSpPr>
        <p:spPr>
          <a:xfrm>
            <a:off x="1028700" y="621030"/>
            <a:ext cx="16230600" cy="21920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13:</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“courses.ts”</a:t>
            </a:r>
            <a:r>
              <a:rPr lang="en-US" sz="2800">
                <a:solidFill>
                  <a:srgbClr val="000000"/>
                </a:solidFill>
                <a:latin typeface="Glacial Indifference"/>
                <a:ea typeface="Glacial Indifference"/>
                <a:cs typeface="Glacial Indifference"/>
                <a:sym typeface="Glacial Indifference"/>
              </a:rPr>
              <a:t> el cual i</a:t>
            </a:r>
            <a:r>
              <a:rPr lang="en-US" sz="2800">
                <a:solidFill>
                  <a:srgbClr val="253754"/>
                </a:solidFill>
                <a:latin typeface="Glacial Indifference"/>
                <a:ea typeface="Glacial Indifference"/>
                <a:cs typeface="Glacial Indifference"/>
                <a:sym typeface="Glacial Indifference"/>
              </a:rPr>
              <a:t>mplementa el componente CoursesComponent, que maneja toda la lógica de la pantalla de cursos. Mantiene en memoria la lista de cursos, el objeto del formulario, el curso en edición y el texto de búsqueda, además de llamar al servicio para cargar, crear, actualizar y eliminar cursos, y exponer la lista filtrada al template.</a:t>
            </a:r>
            <a:r>
              <a:rPr lang="en-US" sz="2800">
                <a:solidFill>
                  <a:srgbClr val="000000"/>
                </a:solidFill>
                <a:latin typeface="Glacial Indifference"/>
                <a:ea typeface="Glacial Indifference"/>
                <a:cs typeface="Glacial Indifference"/>
                <a:sym typeface="Glacial Indifference"/>
              </a:rPr>
              <a:t> El código quedo de la siguiente forma:</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21</a:t>
              </a:r>
            </a:p>
          </p:txBody>
        </p:sp>
      </p:grpSp>
      <p:sp>
        <p:nvSpPr>
          <p:cNvPr id="7" name="Freeform 7"/>
          <p:cNvSpPr/>
          <p:nvPr/>
        </p:nvSpPr>
        <p:spPr>
          <a:xfrm>
            <a:off x="311107" y="2830950"/>
            <a:ext cx="8698934" cy="4656375"/>
          </a:xfrm>
          <a:custGeom>
            <a:avLst/>
            <a:gdLst/>
            <a:ahLst/>
            <a:cxnLst/>
            <a:rect l="l" t="t" r="r" b="b"/>
            <a:pathLst>
              <a:path w="8698934" h="4893150">
                <a:moveTo>
                  <a:pt x="0" y="0"/>
                </a:moveTo>
                <a:lnTo>
                  <a:pt x="8698934" y="0"/>
                </a:lnTo>
                <a:lnTo>
                  <a:pt x="8698934" y="4893150"/>
                </a:lnTo>
                <a:lnTo>
                  <a:pt x="0" y="4893150"/>
                </a:lnTo>
                <a:lnTo>
                  <a:pt x="0" y="0"/>
                </a:lnTo>
                <a:close/>
              </a:path>
            </a:pathLst>
          </a:custGeom>
          <a:blipFill>
            <a:blip r:embed="rId2"/>
            <a:stretch>
              <a:fillRect t="-1" b="-5085"/>
            </a:stretch>
          </a:blipFill>
        </p:spPr>
        <p:txBody>
          <a:bodyPr/>
          <a:lstStyle/>
          <a:p>
            <a:endParaRPr/>
          </a:p>
        </p:txBody>
      </p:sp>
      <p:sp>
        <p:nvSpPr>
          <p:cNvPr id="8" name="Freeform 8"/>
          <p:cNvSpPr/>
          <p:nvPr/>
        </p:nvSpPr>
        <p:spPr>
          <a:xfrm>
            <a:off x="9277959" y="2830950"/>
            <a:ext cx="8698934" cy="4656375"/>
          </a:xfrm>
          <a:custGeom>
            <a:avLst/>
            <a:gdLst/>
            <a:ahLst/>
            <a:cxnLst/>
            <a:rect l="l" t="t" r="r" b="b"/>
            <a:pathLst>
              <a:path w="8698934" h="4893150">
                <a:moveTo>
                  <a:pt x="0" y="0"/>
                </a:moveTo>
                <a:lnTo>
                  <a:pt x="8698934" y="0"/>
                </a:lnTo>
                <a:lnTo>
                  <a:pt x="8698934" y="4893150"/>
                </a:lnTo>
                <a:lnTo>
                  <a:pt x="0" y="4893150"/>
                </a:lnTo>
                <a:lnTo>
                  <a:pt x="0" y="0"/>
                </a:lnTo>
                <a:close/>
              </a:path>
            </a:pathLst>
          </a:custGeom>
          <a:blipFill>
            <a:blip r:embed="rId3"/>
            <a:stretch>
              <a:fillRect t="-1" b="-5085"/>
            </a:stretch>
          </a:blipFill>
        </p:spPr>
        <p:txBody>
          <a:bodyPr/>
          <a:lstStyle/>
          <a:p>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22</a:t>
              </a:r>
            </a:p>
          </p:txBody>
        </p:sp>
      </p:grpSp>
      <p:sp>
        <p:nvSpPr>
          <p:cNvPr id="7" name="Freeform 7"/>
          <p:cNvSpPr/>
          <p:nvPr/>
        </p:nvSpPr>
        <p:spPr>
          <a:xfrm>
            <a:off x="3493370" y="3476017"/>
            <a:ext cx="11301259" cy="6052158"/>
          </a:xfrm>
          <a:custGeom>
            <a:avLst/>
            <a:gdLst/>
            <a:ahLst/>
            <a:cxnLst/>
            <a:rect l="l" t="t" r="r" b="b"/>
            <a:pathLst>
              <a:path w="11301259" h="6356958">
                <a:moveTo>
                  <a:pt x="0" y="0"/>
                </a:moveTo>
                <a:lnTo>
                  <a:pt x="11301258" y="0"/>
                </a:lnTo>
                <a:lnTo>
                  <a:pt x="11301258" y="6356958"/>
                </a:lnTo>
                <a:lnTo>
                  <a:pt x="0" y="6356958"/>
                </a:lnTo>
                <a:lnTo>
                  <a:pt x="0" y="0"/>
                </a:lnTo>
                <a:close/>
              </a:path>
            </a:pathLst>
          </a:custGeom>
          <a:blipFill>
            <a:blip r:embed="rId2"/>
            <a:stretch>
              <a:fillRect b="-5036"/>
            </a:stretch>
          </a:blipFill>
        </p:spPr>
        <p:txBody>
          <a:bodyPr/>
          <a:lstStyle/>
          <a:p>
            <a:endParaRPr/>
          </a:p>
        </p:txBody>
      </p:sp>
      <p:sp>
        <p:nvSpPr>
          <p:cNvPr id="8" name="TextBox 8"/>
          <p:cNvSpPr txBox="1"/>
          <p:nvPr/>
        </p:nvSpPr>
        <p:spPr>
          <a:xfrm>
            <a:off x="1028700" y="621030"/>
            <a:ext cx="16230600" cy="21920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14:</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“courses.html”</a:t>
            </a:r>
            <a:r>
              <a:rPr lang="en-US" sz="2800">
                <a:solidFill>
                  <a:srgbClr val="000000"/>
                </a:solidFill>
                <a:latin typeface="Glacial Indifference"/>
                <a:ea typeface="Glacial Indifference"/>
                <a:cs typeface="Glacial Indifference"/>
                <a:sym typeface="Glacial Indifference"/>
              </a:rPr>
              <a:t> la cual esta plantilla visual asociada a CoursesComponent y define la estructura de la interfaz a pantalla completa. Contiene el formulario para capturar name y teacher, el botón que cambia entre “Guardar” y “Actualizar” según el modo, el input de búsqueda y la tabla que lista los cursos con sus botones de editar y eliminar.El código quedo de la siguiente forma:</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23</a:t>
              </a:r>
            </a:p>
          </p:txBody>
        </p:sp>
      </p:grpSp>
      <p:sp>
        <p:nvSpPr>
          <p:cNvPr id="7" name="Freeform 7"/>
          <p:cNvSpPr/>
          <p:nvPr/>
        </p:nvSpPr>
        <p:spPr>
          <a:xfrm>
            <a:off x="363411" y="2822356"/>
            <a:ext cx="8648844" cy="4642287"/>
          </a:xfrm>
          <a:custGeom>
            <a:avLst/>
            <a:gdLst/>
            <a:ahLst/>
            <a:cxnLst/>
            <a:rect l="l" t="t" r="r" b="b"/>
            <a:pathLst>
              <a:path w="8648844" h="4864975">
                <a:moveTo>
                  <a:pt x="0" y="0"/>
                </a:moveTo>
                <a:lnTo>
                  <a:pt x="8648843" y="0"/>
                </a:lnTo>
                <a:lnTo>
                  <a:pt x="8648843" y="4864974"/>
                </a:lnTo>
                <a:lnTo>
                  <a:pt x="0" y="4864974"/>
                </a:lnTo>
                <a:lnTo>
                  <a:pt x="0" y="0"/>
                </a:lnTo>
                <a:close/>
              </a:path>
            </a:pathLst>
          </a:custGeom>
          <a:blipFill>
            <a:blip r:embed="rId2"/>
            <a:stretch>
              <a:fillRect b="-4796"/>
            </a:stretch>
          </a:blipFill>
        </p:spPr>
        <p:txBody>
          <a:bodyPr/>
          <a:lstStyle/>
          <a:p>
            <a:endParaRPr/>
          </a:p>
        </p:txBody>
      </p:sp>
      <p:sp>
        <p:nvSpPr>
          <p:cNvPr id="8" name="Freeform 8"/>
          <p:cNvSpPr/>
          <p:nvPr/>
        </p:nvSpPr>
        <p:spPr>
          <a:xfrm>
            <a:off x="9275744" y="2822356"/>
            <a:ext cx="8648844" cy="4642287"/>
          </a:xfrm>
          <a:custGeom>
            <a:avLst/>
            <a:gdLst/>
            <a:ahLst/>
            <a:cxnLst/>
            <a:rect l="l" t="t" r="r" b="b"/>
            <a:pathLst>
              <a:path w="8648844" h="4864975">
                <a:moveTo>
                  <a:pt x="0" y="0"/>
                </a:moveTo>
                <a:lnTo>
                  <a:pt x="8648843" y="0"/>
                </a:lnTo>
                <a:lnTo>
                  <a:pt x="8648843" y="4864974"/>
                </a:lnTo>
                <a:lnTo>
                  <a:pt x="0" y="4864974"/>
                </a:lnTo>
                <a:lnTo>
                  <a:pt x="0" y="0"/>
                </a:lnTo>
                <a:close/>
              </a:path>
            </a:pathLst>
          </a:custGeom>
          <a:blipFill>
            <a:blip r:embed="rId3"/>
            <a:stretch>
              <a:fillRect b="-4796"/>
            </a:stretch>
          </a:blipFill>
        </p:spPr>
        <p:txBody>
          <a:bodyPr/>
          <a:lstStyle/>
          <a:p>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24</a:t>
              </a:r>
            </a:p>
          </p:txBody>
        </p:sp>
      </p:grpSp>
      <p:sp>
        <p:nvSpPr>
          <p:cNvPr id="8" name="TextBox 8"/>
          <p:cNvSpPr txBox="1"/>
          <p:nvPr/>
        </p:nvSpPr>
        <p:spPr>
          <a:xfrm>
            <a:off x="1028700" y="621030"/>
            <a:ext cx="16230600" cy="17538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15:</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“courses.css”</a:t>
            </a:r>
            <a:r>
              <a:rPr lang="en-US" sz="2800">
                <a:solidFill>
                  <a:srgbClr val="000000"/>
                </a:solidFill>
                <a:latin typeface="Glacial Indifference"/>
                <a:ea typeface="Glacial Indifference"/>
                <a:cs typeface="Glacial Indifference"/>
                <a:sym typeface="Glacial Indifference"/>
              </a:rPr>
              <a:t> el cual proporciona los estilos específicos de la vista de cursos, dando layout de dos columnas (formulario y tabla), colores, tipografías, botones y comportamiento responsive. Hace que la pantalla se vea como un panel de administración moderno y legible en lugar de un HTML plano. El código quedo de la siguiente forma:</a:t>
            </a:r>
          </a:p>
        </p:txBody>
      </p:sp>
      <p:sp>
        <p:nvSpPr>
          <p:cNvPr id="7" name="Freeform 7"/>
          <p:cNvSpPr/>
          <p:nvPr/>
        </p:nvSpPr>
        <p:spPr>
          <a:xfrm>
            <a:off x="273096" y="3924300"/>
            <a:ext cx="8746124" cy="4682347"/>
          </a:xfrm>
          <a:custGeom>
            <a:avLst/>
            <a:gdLst/>
            <a:ahLst/>
            <a:cxnLst/>
            <a:rect l="l" t="t" r="r" b="b"/>
            <a:pathLst>
              <a:path w="8746124" h="4919695">
                <a:moveTo>
                  <a:pt x="0" y="0"/>
                </a:moveTo>
                <a:lnTo>
                  <a:pt x="8746124" y="0"/>
                </a:lnTo>
                <a:lnTo>
                  <a:pt x="8746124" y="4919694"/>
                </a:lnTo>
                <a:lnTo>
                  <a:pt x="0" y="4919694"/>
                </a:lnTo>
                <a:lnTo>
                  <a:pt x="0" y="0"/>
                </a:lnTo>
                <a:close/>
              </a:path>
            </a:pathLst>
          </a:custGeom>
          <a:blipFill>
            <a:blip r:embed="rId2"/>
            <a:stretch>
              <a:fillRect b="-5069"/>
            </a:stretch>
          </a:blipFill>
        </p:spPr>
        <p:txBody>
          <a:bodyPr/>
          <a:lstStyle/>
          <a:p>
            <a:endParaRPr/>
          </a:p>
        </p:txBody>
      </p:sp>
      <p:sp>
        <p:nvSpPr>
          <p:cNvPr id="9" name="Freeform 9"/>
          <p:cNvSpPr/>
          <p:nvPr/>
        </p:nvSpPr>
        <p:spPr>
          <a:xfrm>
            <a:off x="9268780" y="3924300"/>
            <a:ext cx="8746124" cy="4682347"/>
          </a:xfrm>
          <a:custGeom>
            <a:avLst/>
            <a:gdLst/>
            <a:ahLst/>
            <a:cxnLst/>
            <a:rect l="l" t="t" r="r" b="b"/>
            <a:pathLst>
              <a:path w="8746124" h="4919695">
                <a:moveTo>
                  <a:pt x="0" y="0"/>
                </a:moveTo>
                <a:lnTo>
                  <a:pt x="8746124" y="0"/>
                </a:lnTo>
                <a:lnTo>
                  <a:pt x="8746124" y="4919694"/>
                </a:lnTo>
                <a:lnTo>
                  <a:pt x="0" y="4919694"/>
                </a:lnTo>
                <a:lnTo>
                  <a:pt x="0" y="0"/>
                </a:lnTo>
                <a:close/>
              </a:path>
            </a:pathLst>
          </a:custGeom>
          <a:blipFill>
            <a:blip r:embed="rId3"/>
            <a:stretch>
              <a:fillRect b="-5069"/>
            </a:stretch>
          </a:blipFill>
        </p:spPr>
        <p:txBody>
          <a:bodyPr/>
          <a:lstStyle/>
          <a:p>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25</a:t>
              </a:r>
            </a:p>
          </p:txBody>
        </p:sp>
      </p:grpSp>
      <p:grpSp>
        <p:nvGrpSpPr>
          <p:cNvPr id="9" name="Grupo 8">
            <a:extLst>
              <a:ext uri="{FF2B5EF4-FFF2-40B4-BE49-F238E27FC236}">
                <a16:creationId xmlns:a16="http://schemas.microsoft.com/office/drawing/2014/main" id="{0DE243A0-33F1-44CF-B5E0-0F5F308399A1}"/>
              </a:ext>
            </a:extLst>
          </p:cNvPr>
          <p:cNvGrpSpPr/>
          <p:nvPr/>
        </p:nvGrpSpPr>
        <p:grpSpPr>
          <a:xfrm>
            <a:off x="318903" y="2812020"/>
            <a:ext cx="17650193" cy="4662959"/>
            <a:chOff x="318904" y="2690341"/>
            <a:chExt cx="17650193" cy="4662959"/>
          </a:xfrm>
        </p:grpSpPr>
        <p:sp>
          <p:nvSpPr>
            <p:cNvPr id="7" name="Freeform 7"/>
            <p:cNvSpPr/>
            <p:nvPr/>
          </p:nvSpPr>
          <p:spPr>
            <a:xfrm>
              <a:off x="318904" y="2690341"/>
              <a:ext cx="8722344" cy="4662959"/>
            </a:xfrm>
            <a:custGeom>
              <a:avLst/>
              <a:gdLst/>
              <a:ahLst/>
              <a:cxnLst/>
              <a:rect l="l" t="t" r="r" b="b"/>
              <a:pathLst>
                <a:path w="8722344" h="4906318">
                  <a:moveTo>
                    <a:pt x="0" y="0"/>
                  </a:moveTo>
                  <a:lnTo>
                    <a:pt x="8722343" y="0"/>
                  </a:lnTo>
                  <a:lnTo>
                    <a:pt x="8722343" y="4906318"/>
                  </a:lnTo>
                  <a:lnTo>
                    <a:pt x="0" y="4906318"/>
                  </a:lnTo>
                  <a:lnTo>
                    <a:pt x="0" y="0"/>
                  </a:lnTo>
                  <a:close/>
                </a:path>
              </a:pathLst>
            </a:custGeom>
            <a:blipFill>
              <a:blip r:embed="rId2"/>
              <a:stretch>
                <a:fillRect b="-5219"/>
              </a:stretch>
            </a:blipFill>
          </p:spPr>
          <p:txBody>
            <a:bodyPr/>
            <a:lstStyle/>
            <a:p>
              <a:endParaRPr/>
            </a:p>
          </p:txBody>
        </p:sp>
        <p:sp>
          <p:nvSpPr>
            <p:cNvPr id="8" name="Freeform 8"/>
            <p:cNvSpPr/>
            <p:nvPr/>
          </p:nvSpPr>
          <p:spPr>
            <a:xfrm>
              <a:off x="9246753" y="2690341"/>
              <a:ext cx="8722344" cy="4662959"/>
            </a:xfrm>
            <a:custGeom>
              <a:avLst/>
              <a:gdLst/>
              <a:ahLst/>
              <a:cxnLst/>
              <a:rect l="l" t="t" r="r" b="b"/>
              <a:pathLst>
                <a:path w="8722344" h="4906318">
                  <a:moveTo>
                    <a:pt x="0" y="0"/>
                  </a:moveTo>
                  <a:lnTo>
                    <a:pt x="8722343" y="0"/>
                  </a:lnTo>
                  <a:lnTo>
                    <a:pt x="8722343" y="4906318"/>
                  </a:lnTo>
                  <a:lnTo>
                    <a:pt x="0" y="4906318"/>
                  </a:lnTo>
                  <a:lnTo>
                    <a:pt x="0" y="0"/>
                  </a:lnTo>
                  <a:close/>
                </a:path>
              </a:pathLst>
            </a:custGeom>
            <a:blipFill>
              <a:blip r:embed="rId3"/>
              <a:stretch>
                <a:fillRect b="-5219"/>
              </a:stretch>
            </a:blipFill>
          </p:spPr>
          <p:txBody>
            <a:bodyPr/>
            <a:lstStyle/>
            <a:p>
              <a:endParaRPr/>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26</a:t>
              </a:r>
            </a:p>
          </p:txBody>
        </p:sp>
      </p:grpSp>
      <p:sp>
        <p:nvSpPr>
          <p:cNvPr id="7" name="TextBox 7"/>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16:</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“main.ts”</a:t>
            </a:r>
            <a:r>
              <a:rPr lang="en-US" sz="2800">
                <a:solidFill>
                  <a:srgbClr val="000000"/>
                </a:solidFill>
                <a:latin typeface="Glacial Indifference"/>
                <a:ea typeface="Glacial Indifference"/>
                <a:cs typeface="Glacial Indifference"/>
                <a:sym typeface="Glacial Indifference"/>
              </a:rPr>
              <a:t> el cual es el punto de entrada principal, que arranca la aplicación  de Angular y crea la primera instancia del componente raíz. El código quedo de la siguiente forma:</a:t>
            </a:r>
          </a:p>
        </p:txBody>
      </p:sp>
      <p:sp>
        <p:nvSpPr>
          <p:cNvPr id="8" name="Freeform 8"/>
          <p:cNvSpPr/>
          <p:nvPr/>
        </p:nvSpPr>
        <p:spPr>
          <a:xfrm>
            <a:off x="2459919" y="2514679"/>
            <a:ext cx="13368162" cy="7151291"/>
          </a:xfrm>
          <a:custGeom>
            <a:avLst/>
            <a:gdLst/>
            <a:ahLst/>
            <a:cxnLst/>
            <a:rect l="l" t="t" r="r" b="b"/>
            <a:pathLst>
              <a:path w="13368162" h="7519591">
                <a:moveTo>
                  <a:pt x="0" y="0"/>
                </a:moveTo>
                <a:lnTo>
                  <a:pt x="13368162" y="0"/>
                </a:lnTo>
                <a:lnTo>
                  <a:pt x="13368162" y="7519591"/>
                </a:lnTo>
                <a:lnTo>
                  <a:pt x="0" y="7519591"/>
                </a:lnTo>
                <a:lnTo>
                  <a:pt x="0" y="0"/>
                </a:lnTo>
                <a:close/>
              </a:path>
            </a:pathLst>
          </a:custGeom>
          <a:blipFill>
            <a:blip r:embed="rId2"/>
            <a:stretch>
              <a:fillRect b="-5150"/>
            </a:stretch>
          </a:blipFill>
        </p:spPr>
        <p:txBody>
          <a:bodyPr/>
          <a:lstStyle/>
          <a:p>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27</a:t>
              </a:r>
            </a:p>
          </p:txBody>
        </p:sp>
      </p:grpSp>
      <p:sp>
        <p:nvSpPr>
          <p:cNvPr id="8" name="TextBox 8"/>
          <p:cNvSpPr txBox="1"/>
          <p:nvPr/>
        </p:nvSpPr>
        <p:spPr>
          <a:xfrm>
            <a:off x="1028700" y="1187363"/>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17:</a:t>
            </a:r>
            <a:r>
              <a:rPr lang="en-US" sz="2800">
                <a:solidFill>
                  <a:srgbClr val="000000"/>
                </a:solidFill>
                <a:latin typeface="Glacial Indifference"/>
                <a:ea typeface="Glacial Indifference"/>
                <a:cs typeface="Glacial Indifference"/>
                <a:sym typeface="Glacial Indifference"/>
              </a:rPr>
              <a:t> Hecho todo lo anterior procedí a comprobar el funcionamiento del frontend, para ello abrí la terminal de Visual Studio Code y ejecute el comando </a:t>
            </a:r>
            <a:r>
              <a:rPr lang="en-US" sz="2800" b="1">
                <a:solidFill>
                  <a:srgbClr val="000000"/>
                </a:solidFill>
                <a:latin typeface="Glacial Indifference Bold"/>
                <a:ea typeface="Glacial Indifference Bold"/>
                <a:cs typeface="Glacial Indifference Bold"/>
                <a:sym typeface="Glacial Indifference Bold"/>
              </a:rPr>
              <a:t>“ng serve -o”</a:t>
            </a:r>
            <a:r>
              <a:rPr lang="en-US" sz="2800">
                <a:solidFill>
                  <a:srgbClr val="000000"/>
                </a:solidFill>
                <a:latin typeface="Glacial Indifference"/>
                <a:ea typeface="Glacial Indifference"/>
                <a:cs typeface="Glacial Indifference"/>
                <a:sym typeface="Glacial Indifference"/>
              </a:rPr>
              <a:t>.</a:t>
            </a:r>
          </a:p>
        </p:txBody>
      </p:sp>
      <p:sp>
        <p:nvSpPr>
          <p:cNvPr id="9" name="TextBox 9"/>
          <p:cNvSpPr txBox="1"/>
          <p:nvPr/>
        </p:nvSpPr>
        <p:spPr>
          <a:xfrm>
            <a:off x="-90528" y="382270"/>
            <a:ext cx="18469056" cy="646430"/>
          </a:xfrm>
          <a:prstGeom prst="rect">
            <a:avLst/>
          </a:prstGeom>
        </p:spPr>
        <p:txBody>
          <a:bodyPr lIns="0" tIns="0" rIns="0" bIns="0" rtlCol="0" anchor="t">
            <a:spAutoFit/>
          </a:bodyPr>
          <a:lstStyle/>
          <a:p>
            <a:pPr algn="ctr">
              <a:lnSpc>
                <a:spcPts val="5319"/>
              </a:lnSpc>
            </a:pPr>
            <a:r>
              <a:rPr lang="en-US" sz="3799" b="1">
                <a:solidFill>
                  <a:srgbClr val="152540"/>
                </a:solidFill>
                <a:latin typeface="Glacial Indifference Bold"/>
                <a:ea typeface="Glacial Indifference Bold"/>
                <a:cs typeface="Glacial Indifference Bold"/>
                <a:sym typeface="Glacial Indifference Bold"/>
              </a:rPr>
              <a:t>PRUEBAS DEL FUNCIONAMIENTO DEL FRONTEND</a:t>
            </a:r>
          </a:p>
        </p:txBody>
      </p:sp>
      <p:grpSp>
        <p:nvGrpSpPr>
          <p:cNvPr id="11" name="Grupo 10">
            <a:extLst>
              <a:ext uri="{FF2B5EF4-FFF2-40B4-BE49-F238E27FC236}">
                <a16:creationId xmlns:a16="http://schemas.microsoft.com/office/drawing/2014/main" id="{A7CCE270-E31B-48E5-816E-F8C16C967908}"/>
              </a:ext>
            </a:extLst>
          </p:cNvPr>
          <p:cNvGrpSpPr/>
          <p:nvPr/>
        </p:nvGrpSpPr>
        <p:grpSpPr>
          <a:xfrm>
            <a:off x="2445019" y="2526895"/>
            <a:ext cx="13397962" cy="7164792"/>
            <a:chOff x="2445019" y="2526895"/>
            <a:chExt cx="13397962" cy="7164792"/>
          </a:xfrm>
        </p:grpSpPr>
        <p:sp>
          <p:nvSpPr>
            <p:cNvPr id="7" name="Freeform 7"/>
            <p:cNvSpPr/>
            <p:nvPr/>
          </p:nvSpPr>
          <p:spPr>
            <a:xfrm>
              <a:off x="2445019" y="2526895"/>
              <a:ext cx="13397962" cy="7164792"/>
            </a:xfrm>
            <a:custGeom>
              <a:avLst/>
              <a:gdLst/>
              <a:ahLst/>
              <a:cxnLst/>
              <a:rect l="l" t="t" r="r" b="b"/>
              <a:pathLst>
                <a:path w="13397962" h="7536354">
                  <a:moveTo>
                    <a:pt x="0" y="0"/>
                  </a:moveTo>
                  <a:lnTo>
                    <a:pt x="13397962" y="0"/>
                  </a:lnTo>
                  <a:lnTo>
                    <a:pt x="13397962" y="7536354"/>
                  </a:lnTo>
                  <a:lnTo>
                    <a:pt x="0" y="7536354"/>
                  </a:lnTo>
                  <a:lnTo>
                    <a:pt x="0" y="0"/>
                  </a:lnTo>
                  <a:close/>
                </a:path>
              </a:pathLst>
            </a:custGeom>
            <a:blipFill>
              <a:blip r:embed="rId3"/>
              <a:stretch>
                <a:fillRect b="-5186"/>
              </a:stretch>
            </a:blipFill>
          </p:spPr>
          <p:txBody>
            <a:bodyPr/>
            <a:lstStyle/>
            <a:p>
              <a:endParaRPr/>
            </a:p>
          </p:txBody>
        </p:sp>
        <p:sp>
          <p:nvSpPr>
            <p:cNvPr id="10" name="Freeform 7">
              <a:extLst>
                <a:ext uri="{FF2B5EF4-FFF2-40B4-BE49-F238E27FC236}">
                  <a16:creationId xmlns:a16="http://schemas.microsoft.com/office/drawing/2014/main" id="{B289D143-8634-4315-8407-D68A05C0FB67}"/>
                </a:ext>
              </a:extLst>
            </p:cNvPr>
            <p:cNvSpPr/>
            <p:nvPr/>
          </p:nvSpPr>
          <p:spPr>
            <a:xfrm rot="5400000">
              <a:off x="9308446" y="8497245"/>
              <a:ext cx="533399" cy="862291"/>
            </a:xfrm>
            <a:custGeom>
              <a:avLst/>
              <a:gdLst/>
              <a:ahLst/>
              <a:cxnLst/>
              <a:rect l="l" t="t" r="r" b="b"/>
              <a:pathLst>
                <a:path w="13397962" h="7536354">
                  <a:moveTo>
                    <a:pt x="0" y="0"/>
                  </a:moveTo>
                  <a:lnTo>
                    <a:pt x="13397962" y="0"/>
                  </a:lnTo>
                  <a:lnTo>
                    <a:pt x="13397962" y="7536354"/>
                  </a:lnTo>
                  <a:lnTo>
                    <a:pt x="0" y="7536354"/>
                  </a:lnTo>
                  <a:lnTo>
                    <a:pt x="0" y="0"/>
                  </a:lnTo>
                  <a:close/>
                </a:path>
              </a:pathLst>
            </a:custGeom>
            <a:blipFill>
              <a:blip r:embed="rId3"/>
              <a:stretch>
                <a:fillRect l="-660873" t="-2158467" r="-591636" b="-214102"/>
              </a:stretch>
            </a:blipFill>
          </p:spPr>
          <p:txBody>
            <a:bodyPr/>
            <a:lstStyle/>
            <a:p>
              <a:endParaRPr dirty="0"/>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28</a:t>
              </a:r>
            </a:p>
          </p:txBody>
        </p:sp>
      </p:gr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18:</a:t>
            </a:r>
            <a:r>
              <a:rPr lang="en-US" sz="2800">
                <a:solidFill>
                  <a:srgbClr val="000000"/>
                </a:solidFill>
                <a:latin typeface="Glacial Indifference"/>
                <a:ea typeface="Glacial Indifference"/>
                <a:cs typeface="Glacial Indifference"/>
                <a:sym typeface="Glacial Indifference"/>
              </a:rPr>
              <a:t> habiendo ejecutado dicho comando me apareció automáticamente la ruta del servidor de desarrollo local http://localhost:4200/.</a:t>
            </a:r>
          </a:p>
        </p:txBody>
      </p:sp>
      <p:grpSp>
        <p:nvGrpSpPr>
          <p:cNvPr id="10" name="Grupo 9">
            <a:extLst>
              <a:ext uri="{FF2B5EF4-FFF2-40B4-BE49-F238E27FC236}">
                <a16:creationId xmlns:a16="http://schemas.microsoft.com/office/drawing/2014/main" id="{D8F9F095-FD80-41CE-B392-DA88549DA7CE}"/>
              </a:ext>
            </a:extLst>
          </p:cNvPr>
          <p:cNvGrpSpPr/>
          <p:nvPr/>
        </p:nvGrpSpPr>
        <p:grpSpPr>
          <a:xfrm>
            <a:off x="2029613" y="2030585"/>
            <a:ext cx="14228773" cy="7635385"/>
            <a:chOff x="2029613" y="2030585"/>
            <a:chExt cx="14228773" cy="7635385"/>
          </a:xfrm>
        </p:grpSpPr>
        <p:sp>
          <p:nvSpPr>
            <p:cNvPr id="7" name="Freeform 7"/>
            <p:cNvSpPr/>
            <p:nvPr/>
          </p:nvSpPr>
          <p:spPr>
            <a:xfrm>
              <a:off x="2029613" y="2030585"/>
              <a:ext cx="14228773" cy="7635385"/>
            </a:xfrm>
            <a:custGeom>
              <a:avLst/>
              <a:gdLst/>
              <a:ahLst/>
              <a:cxnLst/>
              <a:rect l="l" t="t" r="r" b="b"/>
              <a:pathLst>
                <a:path w="14228774" h="8003685">
                  <a:moveTo>
                    <a:pt x="0" y="0"/>
                  </a:moveTo>
                  <a:lnTo>
                    <a:pt x="14228774" y="0"/>
                  </a:lnTo>
                  <a:lnTo>
                    <a:pt x="14228774" y="8003685"/>
                  </a:lnTo>
                  <a:lnTo>
                    <a:pt x="0" y="8003685"/>
                  </a:lnTo>
                  <a:lnTo>
                    <a:pt x="0" y="0"/>
                  </a:lnTo>
                  <a:close/>
                </a:path>
              </a:pathLst>
            </a:custGeom>
            <a:blipFill>
              <a:blip r:embed="rId2"/>
              <a:stretch>
                <a:fillRect b="-4824"/>
              </a:stretch>
            </a:blipFill>
          </p:spPr>
          <p:txBody>
            <a:bodyPr/>
            <a:lstStyle/>
            <a:p>
              <a:endParaRPr/>
            </a:p>
          </p:txBody>
        </p:sp>
        <p:sp>
          <p:nvSpPr>
            <p:cNvPr id="9" name="Freeform 7">
              <a:extLst>
                <a:ext uri="{FF2B5EF4-FFF2-40B4-BE49-F238E27FC236}">
                  <a16:creationId xmlns:a16="http://schemas.microsoft.com/office/drawing/2014/main" id="{C56D7DB0-FE04-4EAE-960A-5EA2BD143414}"/>
                </a:ext>
              </a:extLst>
            </p:cNvPr>
            <p:cNvSpPr/>
            <p:nvPr/>
          </p:nvSpPr>
          <p:spPr>
            <a:xfrm>
              <a:off x="9144000" y="7886700"/>
              <a:ext cx="914400" cy="228600"/>
            </a:xfrm>
            <a:custGeom>
              <a:avLst/>
              <a:gdLst/>
              <a:ahLst/>
              <a:cxnLst/>
              <a:rect l="l" t="t" r="r" b="b"/>
              <a:pathLst>
                <a:path w="14228774" h="8003685">
                  <a:moveTo>
                    <a:pt x="0" y="0"/>
                  </a:moveTo>
                  <a:lnTo>
                    <a:pt x="14228774" y="0"/>
                  </a:lnTo>
                  <a:lnTo>
                    <a:pt x="14228774" y="8003685"/>
                  </a:lnTo>
                  <a:lnTo>
                    <a:pt x="0" y="8003685"/>
                  </a:lnTo>
                  <a:lnTo>
                    <a:pt x="0" y="0"/>
                  </a:lnTo>
                  <a:close/>
                </a:path>
              </a:pathLst>
            </a:custGeom>
            <a:blipFill>
              <a:blip r:embed="rId2"/>
              <a:stretch>
                <a:fillRect l="-575758" t="-2995062" r="-569098" b="-406109"/>
              </a:stretch>
            </a:blipFill>
          </p:spPr>
          <p:txBody>
            <a:bodyPr/>
            <a:lstStyle/>
            <a:p>
              <a:endParaRPr dirty="0"/>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29</a:t>
              </a:r>
            </a:p>
          </p:txBody>
        </p:sp>
      </p:grpSp>
      <p:sp>
        <p:nvSpPr>
          <p:cNvPr id="7" name="Freeform 7"/>
          <p:cNvSpPr/>
          <p:nvPr/>
        </p:nvSpPr>
        <p:spPr>
          <a:xfrm>
            <a:off x="2198240" y="2072971"/>
            <a:ext cx="13891520" cy="7445679"/>
          </a:xfrm>
          <a:custGeom>
            <a:avLst/>
            <a:gdLst/>
            <a:ahLst/>
            <a:cxnLst/>
            <a:rect l="l" t="t" r="r" b="b"/>
            <a:pathLst>
              <a:path w="13891519" h="7813979">
                <a:moveTo>
                  <a:pt x="0" y="0"/>
                </a:moveTo>
                <a:lnTo>
                  <a:pt x="13891518" y="0"/>
                </a:lnTo>
                <a:lnTo>
                  <a:pt x="13891518" y="7813979"/>
                </a:lnTo>
                <a:lnTo>
                  <a:pt x="0" y="7813979"/>
                </a:lnTo>
                <a:lnTo>
                  <a:pt x="0" y="0"/>
                </a:lnTo>
                <a:close/>
              </a:path>
            </a:pathLst>
          </a:custGeom>
          <a:blipFill>
            <a:blip r:embed="rId2"/>
            <a:stretch>
              <a:fillRect b="-4946"/>
            </a:stretch>
          </a:blipFill>
        </p:spPr>
        <p:txBody>
          <a:bodyPr/>
          <a:lstStyle/>
          <a:p>
            <a:endParaRPr/>
          </a:p>
        </p:txBody>
      </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19:</a:t>
            </a:r>
            <a:r>
              <a:rPr lang="en-US" sz="2800">
                <a:solidFill>
                  <a:srgbClr val="000000"/>
                </a:solidFill>
                <a:latin typeface="Glacial Indifference"/>
                <a:ea typeface="Glacial Indifference"/>
                <a:cs typeface="Glacial Indifference"/>
                <a:sym typeface="Glacial Indifference"/>
              </a:rPr>
              <a:t> al acceder a la ruta del servidor de desarrollo local pude comprobar que la programación del frontend fue correcta ya que me permitió visualizar el contenido programado de mi aplicación web.</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30</a:t>
              </a:r>
            </a:p>
          </p:txBody>
        </p:sp>
      </p:grpSp>
      <p:sp>
        <p:nvSpPr>
          <p:cNvPr id="7" name="Freeform 7"/>
          <p:cNvSpPr/>
          <p:nvPr/>
        </p:nvSpPr>
        <p:spPr>
          <a:xfrm>
            <a:off x="6917606" y="3227371"/>
            <a:ext cx="4452788" cy="6532579"/>
          </a:xfrm>
          <a:custGeom>
            <a:avLst/>
            <a:gdLst/>
            <a:ahLst/>
            <a:cxnLst/>
            <a:rect l="l" t="t" r="r" b="b"/>
            <a:pathLst>
              <a:path w="4733330" h="7015480">
                <a:moveTo>
                  <a:pt x="0" y="0"/>
                </a:moveTo>
                <a:lnTo>
                  <a:pt x="4733330" y="0"/>
                </a:lnTo>
                <a:lnTo>
                  <a:pt x="4733330" y="7015481"/>
                </a:lnTo>
                <a:lnTo>
                  <a:pt x="0" y="7015481"/>
                </a:lnTo>
                <a:lnTo>
                  <a:pt x="0" y="0"/>
                </a:lnTo>
                <a:close/>
              </a:path>
            </a:pathLst>
          </a:custGeom>
          <a:blipFill>
            <a:blip r:embed="rId2"/>
            <a:stretch>
              <a:fillRect l="-15094" t="-15008" r="-394849" b="-78524"/>
            </a:stretch>
          </a:blipFill>
        </p:spPr>
        <p:txBody>
          <a:bodyPr/>
          <a:lstStyle/>
          <a:p>
            <a:endParaRPr/>
          </a:p>
        </p:txBody>
      </p:sp>
      <p:sp>
        <p:nvSpPr>
          <p:cNvPr id="8" name="TextBox 8"/>
          <p:cNvSpPr txBox="1"/>
          <p:nvPr/>
        </p:nvSpPr>
        <p:spPr>
          <a:xfrm>
            <a:off x="1028700" y="1009650"/>
            <a:ext cx="16230600" cy="17538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20: </a:t>
            </a:r>
            <a:r>
              <a:rPr lang="en-US" sz="2800">
                <a:solidFill>
                  <a:srgbClr val="000000"/>
                </a:solidFill>
                <a:latin typeface="Glacial Indifference"/>
                <a:ea typeface="Glacial Indifference"/>
                <a:cs typeface="Glacial Indifference"/>
                <a:sym typeface="Glacial Indifference"/>
              </a:rPr>
              <a:t>para continuar procedí a programar la conexión con el backend, es decir la conexión con los microservicios creados anteriormente en las practicas pasadas, para ello comencé creando algunas carpetas y archivos. Primeramente seleccione “src” y dentro cree una carpeta llamada “services”, dentro de esa carpeta cree 1 archivo llamado “course.service.ts”.</a:t>
            </a:r>
          </a:p>
        </p:txBody>
      </p:sp>
      <p:sp>
        <p:nvSpPr>
          <p:cNvPr id="9" name="TextBox 9"/>
          <p:cNvSpPr txBox="1"/>
          <p:nvPr/>
        </p:nvSpPr>
        <p:spPr>
          <a:xfrm>
            <a:off x="-90528" y="382270"/>
            <a:ext cx="18469056" cy="646430"/>
          </a:xfrm>
          <a:prstGeom prst="rect">
            <a:avLst/>
          </a:prstGeom>
        </p:spPr>
        <p:txBody>
          <a:bodyPr lIns="0" tIns="0" rIns="0" bIns="0" rtlCol="0" anchor="t">
            <a:spAutoFit/>
          </a:bodyPr>
          <a:lstStyle/>
          <a:p>
            <a:pPr algn="ctr">
              <a:lnSpc>
                <a:spcPts val="5319"/>
              </a:lnSpc>
            </a:pPr>
            <a:r>
              <a:rPr lang="en-US" sz="3799" b="1" dirty="0">
                <a:solidFill>
                  <a:srgbClr val="152540"/>
                </a:solidFill>
                <a:latin typeface="Glacial Indifference Bold"/>
                <a:ea typeface="Glacial Indifference Bold"/>
                <a:cs typeface="Glacial Indifference Bold"/>
                <a:sym typeface="Glacial Indifference Bold"/>
              </a:rPr>
              <a:t>CONEXION DEL FRONTEND CON EL BACKEND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31</a:t>
              </a:r>
            </a:p>
          </p:txBody>
        </p:sp>
      </p:grpSp>
      <p:sp>
        <p:nvSpPr>
          <p:cNvPr id="7" name="Freeform 7"/>
          <p:cNvSpPr/>
          <p:nvPr/>
        </p:nvSpPr>
        <p:spPr>
          <a:xfrm>
            <a:off x="3283311" y="3364795"/>
            <a:ext cx="11721378" cy="6301175"/>
          </a:xfrm>
          <a:custGeom>
            <a:avLst/>
            <a:gdLst/>
            <a:ahLst/>
            <a:cxnLst/>
            <a:rect l="l" t="t" r="r" b="b"/>
            <a:pathLst>
              <a:path w="11721378" h="6593275">
                <a:moveTo>
                  <a:pt x="0" y="0"/>
                </a:moveTo>
                <a:lnTo>
                  <a:pt x="11721378" y="0"/>
                </a:lnTo>
                <a:lnTo>
                  <a:pt x="11721378" y="6593275"/>
                </a:lnTo>
                <a:lnTo>
                  <a:pt x="0" y="6593275"/>
                </a:lnTo>
                <a:lnTo>
                  <a:pt x="0" y="0"/>
                </a:lnTo>
                <a:close/>
              </a:path>
            </a:pathLst>
          </a:custGeom>
          <a:blipFill>
            <a:blip r:embed="rId2"/>
            <a:stretch>
              <a:fillRect b="-4636"/>
            </a:stretch>
          </a:blipFill>
        </p:spPr>
        <p:txBody>
          <a:bodyPr/>
          <a:lstStyle/>
          <a:p>
            <a:endParaRPr/>
          </a:p>
        </p:txBody>
      </p:sp>
      <p:sp>
        <p:nvSpPr>
          <p:cNvPr id="8" name="TextBox 8"/>
          <p:cNvSpPr txBox="1"/>
          <p:nvPr/>
        </p:nvSpPr>
        <p:spPr>
          <a:xfrm>
            <a:off x="1028700" y="621030"/>
            <a:ext cx="16230600" cy="21920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21:</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“course.service.ts”</a:t>
            </a:r>
            <a:r>
              <a:rPr lang="en-US" sz="2800">
                <a:solidFill>
                  <a:srgbClr val="000000"/>
                </a:solidFill>
                <a:latin typeface="Glacial Indifference"/>
                <a:ea typeface="Glacial Indifference"/>
                <a:cs typeface="Glacial Indifference"/>
                <a:sym typeface="Glacial Indifference"/>
              </a:rPr>
              <a:t> el cual encapsula toda la comunicación HTTP con el microservicio de course en el backend. Expone métodos para obtener todos los cursos, crear uno nuevo, actualizarlo por id y eliminarlo, usando la URL base http://localhost:9090/api/course y permitiendo que el componente consuma el backend sin preocuparse por los detalles de las peticiones. El código quedo de la siguiente forma:</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32</a:t>
              </a:r>
            </a:p>
          </p:txBody>
        </p:sp>
      </p:grpSp>
      <p:sp>
        <p:nvSpPr>
          <p:cNvPr id="7" name="Freeform 7"/>
          <p:cNvSpPr/>
          <p:nvPr/>
        </p:nvSpPr>
        <p:spPr>
          <a:xfrm>
            <a:off x="3168756" y="3291210"/>
            <a:ext cx="11950488" cy="6437625"/>
          </a:xfrm>
          <a:custGeom>
            <a:avLst/>
            <a:gdLst/>
            <a:ahLst/>
            <a:cxnLst/>
            <a:rect l="l" t="t" r="r" b="b"/>
            <a:pathLst>
              <a:path w="11950488" h="6722150">
                <a:moveTo>
                  <a:pt x="0" y="0"/>
                </a:moveTo>
                <a:lnTo>
                  <a:pt x="11950488" y="0"/>
                </a:lnTo>
                <a:lnTo>
                  <a:pt x="11950488" y="6722150"/>
                </a:lnTo>
                <a:lnTo>
                  <a:pt x="0" y="6722150"/>
                </a:lnTo>
                <a:lnTo>
                  <a:pt x="0" y="0"/>
                </a:lnTo>
                <a:close/>
              </a:path>
            </a:pathLst>
          </a:custGeom>
          <a:blipFill>
            <a:blip r:embed="rId2"/>
            <a:stretch>
              <a:fillRect b="-4420"/>
            </a:stretch>
          </a:blipFill>
        </p:spPr>
        <p:txBody>
          <a:bodyPr/>
          <a:lstStyle/>
          <a:p>
            <a:endParaRPr/>
          </a:p>
        </p:txBody>
      </p:sp>
      <p:sp>
        <p:nvSpPr>
          <p:cNvPr id="8" name="TextBox 8"/>
          <p:cNvSpPr txBox="1"/>
          <p:nvPr/>
        </p:nvSpPr>
        <p:spPr>
          <a:xfrm>
            <a:off x="1028700" y="621030"/>
            <a:ext cx="16230600" cy="21920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22:</a:t>
            </a:r>
            <a:r>
              <a:rPr lang="en-US" sz="2800">
                <a:solidFill>
                  <a:srgbClr val="000000"/>
                </a:solidFill>
                <a:latin typeface="Glacial Indifference"/>
                <a:ea typeface="Glacial Indifference"/>
                <a:cs typeface="Glacial Indifference"/>
                <a:sym typeface="Glacial Indifference"/>
              </a:rPr>
              <a:t> para continuar procedí a programar el código de del archivo </a:t>
            </a:r>
            <a:r>
              <a:rPr lang="en-US" sz="2800" b="1">
                <a:solidFill>
                  <a:srgbClr val="000000"/>
                </a:solidFill>
                <a:latin typeface="Glacial Indifference Bold"/>
                <a:ea typeface="Glacial Indifference Bold"/>
                <a:cs typeface="Glacial Indifference Bold"/>
                <a:sym typeface="Glacial Indifference Bold"/>
              </a:rPr>
              <a:t>“course.ts”</a:t>
            </a:r>
            <a:r>
              <a:rPr lang="en-US" sz="2800">
                <a:solidFill>
                  <a:srgbClr val="000000"/>
                </a:solidFill>
                <a:latin typeface="Glacial Indifference"/>
                <a:ea typeface="Glacial Indifference"/>
                <a:cs typeface="Glacial Indifference"/>
                <a:sym typeface="Glacial Indifference"/>
              </a:rPr>
              <a:t> el cual implementa el componente CoursesComponent, que maneja toda la lógica de la pantalla de cursos. Mantiene en memoria la lista de cursos, el objeto del formulario, el curso en edición y el texto de búsqueda, además de llamar al servicio para cargar, crear, actualizar y eliminar cursos, y exponer la lista filtrada al template. El código quedo de la siguiente forma:</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33</a:t>
              </a:r>
            </a:p>
          </p:txBody>
        </p:sp>
      </p:grpSp>
      <p:sp>
        <p:nvSpPr>
          <p:cNvPr id="7" name="Freeform 7"/>
          <p:cNvSpPr/>
          <p:nvPr/>
        </p:nvSpPr>
        <p:spPr>
          <a:xfrm>
            <a:off x="288297" y="2811277"/>
            <a:ext cx="8727630" cy="4664446"/>
          </a:xfrm>
          <a:custGeom>
            <a:avLst/>
            <a:gdLst/>
            <a:ahLst/>
            <a:cxnLst/>
            <a:rect l="l" t="t" r="r" b="b"/>
            <a:pathLst>
              <a:path w="8727630" h="4909292">
                <a:moveTo>
                  <a:pt x="0" y="0"/>
                </a:moveTo>
                <a:lnTo>
                  <a:pt x="8727630" y="0"/>
                </a:lnTo>
                <a:lnTo>
                  <a:pt x="8727630" y="4909292"/>
                </a:lnTo>
                <a:lnTo>
                  <a:pt x="0" y="4909292"/>
                </a:lnTo>
                <a:lnTo>
                  <a:pt x="0" y="0"/>
                </a:lnTo>
                <a:close/>
              </a:path>
            </a:pathLst>
          </a:custGeom>
          <a:blipFill>
            <a:blip r:embed="rId2"/>
            <a:stretch>
              <a:fillRect t="1" b="-5250"/>
            </a:stretch>
          </a:blipFill>
        </p:spPr>
        <p:txBody>
          <a:bodyPr/>
          <a:lstStyle/>
          <a:p>
            <a:endParaRPr/>
          </a:p>
        </p:txBody>
      </p:sp>
      <p:sp>
        <p:nvSpPr>
          <p:cNvPr id="8" name="Freeform 8"/>
          <p:cNvSpPr/>
          <p:nvPr/>
        </p:nvSpPr>
        <p:spPr>
          <a:xfrm>
            <a:off x="9272073" y="2811277"/>
            <a:ext cx="8727630" cy="4664446"/>
          </a:xfrm>
          <a:custGeom>
            <a:avLst/>
            <a:gdLst/>
            <a:ahLst/>
            <a:cxnLst/>
            <a:rect l="l" t="t" r="r" b="b"/>
            <a:pathLst>
              <a:path w="8727630" h="4909292">
                <a:moveTo>
                  <a:pt x="0" y="0"/>
                </a:moveTo>
                <a:lnTo>
                  <a:pt x="8727630" y="0"/>
                </a:lnTo>
                <a:lnTo>
                  <a:pt x="8727630" y="4909292"/>
                </a:lnTo>
                <a:lnTo>
                  <a:pt x="0" y="4909292"/>
                </a:lnTo>
                <a:lnTo>
                  <a:pt x="0" y="0"/>
                </a:lnTo>
                <a:close/>
              </a:path>
            </a:pathLst>
          </a:custGeom>
          <a:blipFill>
            <a:blip r:embed="rId3"/>
            <a:stretch>
              <a:fillRect t="1" b="-5250"/>
            </a:stretch>
          </a:blipFill>
        </p:spPr>
        <p:txBody>
          <a:bodyPr/>
          <a:lstStyle/>
          <a:p>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34</a:t>
              </a:r>
            </a:p>
          </p:txBody>
        </p:sp>
      </p:grpSp>
      <p:sp>
        <p:nvSpPr>
          <p:cNvPr id="7" name="Freeform 7"/>
          <p:cNvSpPr/>
          <p:nvPr/>
        </p:nvSpPr>
        <p:spPr>
          <a:xfrm>
            <a:off x="2198240" y="2111071"/>
            <a:ext cx="13891520" cy="7445679"/>
          </a:xfrm>
          <a:custGeom>
            <a:avLst/>
            <a:gdLst/>
            <a:ahLst/>
            <a:cxnLst/>
            <a:rect l="l" t="t" r="r" b="b"/>
            <a:pathLst>
              <a:path w="13891519" h="7813979">
                <a:moveTo>
                  <a:pt x="0" y="0"/>
                </a:moveTo>
                <a:lnTo>
                  <a:pt x="13891518" y="0"/>
                </a:lnTo>
                <a:lnTo>
                  <a:pt x="13891518" y="7813979"/>
                </a:lnTo>
                <a:lnTo>
                  <a:pt x="0" y="7813979"/>
                </a:lnTo>
                <a:lnTo>
                  <a:pt x="0" y="0"/>
                </a:lnTo>
                <a:close/>
              </a:path>
            </a:pathLst>
          </a:custGeom>
          <a:blipFill>
            <a:blip r:embed="rId2"/>
            <a:stretch>
              <a:fillRect b="-4946"/>
            </a:stretch>
          </a:blipFill>
        </p:spPr>
        <p:txBody>
          <a:bodyPr/>
          <a:lstStyle/>
          <a:p>
            <a:endParaRPr/>
          </a:p>
        </p:txBody>
      </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23:</a:t>
            </a:r>
            <a:r>
              <a:rPr lang="en-US" sz="2800">
                <a:solidFill>
                  <a:srgbClr val="000000"/>
                </a:solidFill>
                <a:latin typeface="Glacial Indifference"/>
                <a:ea typeface="Glacial Indifference"/>
                <a:cs typeface="Glacial Indifference"/>
                <a:sym typeface="Glacial Indifference"/>
              </a:rPr>
              <a:t> hecho lo anterior accedi a  mi arquitetcura de microservicios cerada en Intellij IDEA y en la clase “CourseController” escribi la sigvuiente notación</a:t>
            </a:r>
            <a:r>
              <a:rPr lang="en-US" sz="2800" b="1">
                <a:solidFill>
                  <a:srgbClr val="000000"/>
                </a:solidFill>
                <a:latin typeface="Glacial Indifference Bold"/>
                <a:ea typeface="Glacial Indifference Bold"/>
                <a:cs typeface="Glacial Indifference Bold"/>
                <a:sym typeface="Glacial Indifference Bold"/>
              </a:rPr>
              <a:t> “@CrossOrigin(origins = "http://localhost:4200")”</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35</a:t>
              </a:r>
            </a:p>
          </p:txBody>
        </p:sp>
      </p:grpSp>
      <p:sp>
        <p:nvSpPr>
          <p:cNvPr id="8" name="TextBox 8"/>
          <p:cNvSpPr txBox="1"/>
          <p:nvPr/>
        </p:nvSpPr>
        <p:spPr>
          <a:xfrm>
            <a:off x="1028700" y="1177277"/>
            <a:ext cx="16230600" cy="1287780"/>
          </a:xfrm>
          <a:prstGeom prst="rect">
            <a:avLst/>
          </a:prstGeom>
        </p:spPr>
        <p:txBody>
          <a:bodyPr lIns="0" tIns="0" rIns="0" bIns="0" rtlCol="0" anchor="t">
            <a:spAutoFit/>
          </a:bodyPr>
          <a:lstStyle/>
          <a:p>
            <a:pPr algn="just">
              <a:lnSpc>
                <a:spcPts val="3375"/>
              </a:lnSpc>
            </a:pPr>
            <a:r>
              <a:rPr lang="en-US" sz="2700" b="1">
                <a:solidFill>
                  <a:srgbClr val="253754"/>
                </a:solidFill>
                <a:latin typeface="Glacial Indifference Bold"/>
                <a:ea typeface="Glacial Indifference Bold"/>
                <a:cs typeface="Glacial Indifference Bold"/>
                <a:sym typeface="Glacial Indifference Bold"/>
              </a:rPr>
              <a:t>Paso 24: </a:t>
            </a:r>
            <a:r>
              <a:rPr lang="en-US" sz="2700">
                <a:solidFill>
                  <a:srgbClr val="253754"/>
                </a:solidFill>
                <a:latin typeface="Glacial Indifference"/>
                <a:ea typeface="Glacial Indifference"/>
                <a:cs typeface="Glacial Indifference"/>
                <a:sym typeface="Glacial Indifference"/>
              </a:rPr>
              <a:t>hecho todo lo anterior procedí a comprobar la conexión del backend con el frontend, para ello comencé arrancando el servicio de Laragon, para ello abrí Laragon y en el menú principal seleccione la opción </a:t>
            </a:r>
            <a:r>
              <a:rPr lang="en-US" sz="2700" b="1">
                <a:solidFill>
                  <a:srgbClr val="253754"/>
                </a:solidFill>
                <a:latin typeface="Glacial Indifference Bold"/>
                <a:ea typeface="Glacial Indifference Bold"/>
                <a:cs typeface="Glacial Indifference Bold"/>
                <a:sym typeface="Glacial Indifference Bold"/>
              </a:rPr>
              <a:t>“Iniciar Todo”</a:t>
            </a:r>
            <a:r>
              <a:rPr lang="en-US" sz="2700">
                <a:solidFill>
                  <a:srgbClr val="253754"/>
                </a:solidFill>
                <a:latin typeface="Glacial Indifference"/>
                <a:ea typeface="Glacial Indifference"/>
                <a:cs typeface="Glacial Indifference"/>
                <a:sym typeface="Glacial Indifference"/>
              </a:rPr>
              <a:t>.</a:t>
            </a:r>
          </a:p>
        </p:txBody>
      </p:sp>
      <p:sp>
        <p:nvSpPr>
          <p:cNvPr id="9" name="TextBox 9"/>
          <p:cNvSpPr txBox="1"/>
          <p:nvPr/>
        </p:nvSpPr>
        <p:spPr>
          <a:xfrm>
            <a:off x="-90528" y="382270"/>
            <a:ext cx="18469056" cy="646430"/>
          </a:xfrm>
          <a:prstGeom prst="rect">
            <a:avLst/>
          </a:prstGeom>
        </p:spPr>
        <p:txBody>
          <a:bodyPr lIns="0" tIns="0" rIns="0" bIns="0" rtlCol="0" anchor="t">
            <a:spAutoFit/>
          </a:bodyPr>
          <a:lstStyle/>
          <a:p>
            <a:pPr algn="ctr">
              <a:lnSpc>
                <a:spcPts val="5319"/>
              </a:lnSpc>
            </a:pPr>
            <a:r>
              <a:rPr lang="en-US" sz="3799" b="1">
                <a:solidFill>
                  <a:srgbClr val="152540"/>
                </a:solidFill>
                <a:latin typeface="Glacial Indifference Bold"/>
                <a:ea typeface="Glacial Indifference Bold"/>
                <a:cs typeface="Glacial Indifference Bold"/>
                <a:sym typeface="Glacial Indifference Bold"/>
              </a:rPr>
              <a:t>PRUEBAS DE LA CONEXION DEL FRONTEND CON EL BACKEND</a:t>
            </a:r>
          </a:p>
        </p:txBody>
      </p:sp>
      <p:pic>
        <p:nvPicPr>
          <p:cNvPr id="11" name="Imagen 10">
            <a:extLst>
              <a:ext uri="{FF2B5EF4-FFF2-40B4-BE49-F238E27FC236}">
                <a16:creationId xmlns:a16="http://schemas.microsoft.com/office/drawing/2014/main" id="{83C91E23-5FC0-4EB6-A8F0-3EEFEA3BAC13}"/>
              </a:ext>
            </a:extLst>
          </p:cNvPr>
          <p:cNvPicPr>
            <a:picLocks noChangeAspect="1"/>
          </p:cNvPicPr>
          <p:nvPr/>
        </p:nvPicPr>
        <p:blipFill rotWithShape="1">
          <a:blip r:embed="rId2"/>
          <a:srcRect b="5113"/>
          <a:stretch/>
        </p:blipFill>
        <p:spPr>
          <a:xfrm>
            <a:off x="2933700" y="3076575"/>
            <a:ext cx="12420600" cy="662940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36</a:t>
              </a:r>
            </a:p>
          </p:txBody>
        </p:sp>
      </p:grpSp>
      <p:sp>
        <p:nvSpPr>
          <p:cNvPr id="7" name="Freeform 7"/>
          <p:cNvSpPr/>
          <p:nvPr/>
        </p:nvSpPr>
        <p:spPr>
          <a:xfrm>
            <a:off x="2022681" y="2022786"/>
            <a:ext cx="14242638" cy="7643184"/>
          </a:xfrm>
          <a:custGeom>
            <a:avLst/>
            <a:gdLst/>
            <a:ahLst/>
            <a:cxnLst/>
            <a:rect l="l" t="t" r="r" b="b"/>
            <a:pathLst>
              <a:path w="14242638" h="8011484">
                <a:moveTo>
                  <a:pt x="0" y="0"/>
                </a:moveTo>
                <a:lnTo>
                  <a:pt x="14242638" y="0"/>
                </a:lnTo>
                <a:lnTo>
                  <a:pt x="14242638" y="8011484"/>
                </a:lnTo>
                <a:lnTo>
                  <a:pt x="0" y="8011484"/>
                </a:lnTo>
                <a:lnTo>
                  <a:pt x="0" y="0"/>
                </a:lnTo>
                <a:close/>
              </a:path>
            </a:pathLst>
          </a:custGeom>
          <a:blipFill>
            <a:blip r:embed="rId2"/>
            <a:stretch>
              <a:fillRect b="-4818"/>
            </a:stretch>
          </a:blipFill>
        </p:spPr>
        <p:txBody>
          <a:bodyPr/>
          <a:lstStyle/>
          <a:p>
            <a:endParaRPr/>
          </a:p>
        </p:txBody>
      </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25:</a:t>
            </a:r>
            <a:r>
              <a:rPr lang="en-US" sz="2800">
                <a:solidFill>
                  <a:srgbClr val="000000"/>
                </a:solidFill>
                <a:latin typeface="Glacial Indifference"/>
                <a:ea typeface="Glacial Indifference"/>
                <a:cs typeface="Glacial Indifference"/>
                <a:sym typeface="Glacial Indifference"/>
              </a:rPr>
              <a:t> Después iniciar Laragon ingrese a mi arquitectura de microservicios creada en Intellij IDEA y compile todos los microservicios: “Config”, “Eureka”, “Course”, “Student” y finalmente “Gateway”.</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37</a:t>
              </a:r>
            </a:p>
          </p:txBody>
        </p:sp>
      </p:gr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26:</a:t>
            </a:r>
            <a:r>
              <a:rPr lang="en-US" sz="2800">
                <a:solidFill>
                  <a:srgbClr val="000000"/>
                </a:solidFill>
                <a:latin typeface="Glacial Indifference"/>
                <a:ea typeface="Glacial Indifference"/>
                <a:cs typeface="Glacial Indifference"/>
                <a:sym typeface="Glacial Indifference"/>
              </a:rPr>
              <a:t> hecho todo lo anterior, abrí la terminal de Visual Studio Code y ejecute el comando </a:t>
            </a:r>
            <a:r>
              <a:rPr lang="en-US" sz="2800" b="1">
                <a:solidFill>
                  <a:srgbClr val="000000"/>
                </a:solidFill>
                <a:latin typeface="Glacial Indifference Bold"/>
                <a:ea typeface="Glacial Indifference Bold"/>
                <a:cs typeface="Glacial Indifference Bold"/>
                <a:sym typeface="Glacial Indifference Bold"/>
              </a:rPr>
              <a:t>“ng serve -o”.</a:t>
            </a:r>
          </a:p>
        </p:txBody>
      </p:sp>
      <p:grpSp>
        <p:nvGrpSpPr>
          <p:cNvPr id="10" name="Grupo 9">
            <a:extLst>
              <a:ext uri="{FF2B5EF4-FFF2-40B4-BE49-F238E27FC236}">
                <a16:creationId xmlns:a16="http://schemas.microsoft.com/office/drawing/2014/main" id="{F9102BB6-8F12-4383-8BDD-D0E894AC32B3}"/>
              </a:ext>
            </a:extLst>
          </p:cNvPr>
          <p:cNvGrpSpPr/>
          <p:nvPr/>
        </p:nvGrpSpPr>
        <p:grpSpPr>
          <a:xfrm>
            <a:off x="2029613" y="1992485"/>
            <a:ext cx="14228773" cy="7635385"/>
            <a:chOff x="2029613" y="1992485"/>
            <a:chExt cx="14228773" cy="7635385"/>
          </a:xfrm>
        </p:grpSpPr>
        <p:sp>
          <p:nvSpPr>
            <p:cNvPr id="7" name="Freeform 7"/>
            <p:cNvSpPr/>
            <p:nvPr/>
          </p:nvSpPr>
          <p:spPr>
            <a:xfrm>
              <a:off x="2029613" y="1992485"/>
              <a:ext cx="14228773" cy="7635385"/>
            </a:xfrm>
            <a:custGeom>
              <a:avLst/>
              <a:gdLst/>
              <a:ahLst/>
              <a:cxnLst/>
              <a:rect l="l" t="t" r="r" b="b"/>
              <a:pathLst>
                <a:path w="14228774" h="8003685">
                  <a:moveTo>
                    <a:pt x="0" y="0"/>
                  </a:moveTo>
                  <a:lnTo>
                    <a:pt x="14228774" y="0"/>
                  </a:lnTo>
                  <a:lnTo>
                    <a:pt x="14228774" y="8003685"/>
                  </a:lnTo>
                  <a:lnTo>
                    <a:pt x="0" y="8003685"/>
                  </a:lnTo>
                  <a:lnTo>
                    <a:pt x="0" y="0"/>
                  </a:lnTo>
                  <a:close/>
                </a:path>
              </a:pathLst>
            </a:custGeom>
            <a:blipFill>
              <a:blip r:embed="rId2"/>
              <a:stretch>
                <a:fillRect t="-1" b="-4823"/>
              </a:stretch>
            </a:blipFill>
          </p:spPr>
          <p:txBody>
            <a:bodyPr/>
            <a:lstStyle/>
            <a:p>
              <a:endParaRPr/>
            </a:p>
          </p:txBody>
        </p:sp>
        <p:sp>
          <p:nvSpPr>
            <p:cNvPr id="9" name="Freeform 7">
              <a:extLst>
                <a:ext uri="{FF2B5EF4-FFF2-40B4-BE49-F238E27FC236}">
                  <a16:creationId xmlns:a16="http://schemas.microsoft.com/office/drawing/2014/main" id="{9918527F-9CD7-40F9-AF5E-5F9084A776B1}"/>
                </a:ext>
              </a:extLst>
            </p:cNvPr>
            <p:cNvSpPr/>
            <p:nvPr/>
          </p:nvSpPr>
          <p:spPr>
            <a:xfrm>
              <a:off x="9143999" y="8648700"/>
              <a:ext cx="914400" cy="304800"/>
            </a:xfrm>
            <a:custGeom>
              <a:avLst/>
              <a:gdLst/>
              <a:ahLst/>
              <a:cxnLst/>
              <a:rect l="l" t="t" r="r" b="b"/>
              <a:pathLst>
                <a:path w="14228774" h="8003685">
                  <a:moveTo>
                    <a:pt x="0" y="0"/>
                  </a:moveTo>
                  <a:lnTo>
                    <a:pt x="14228774" y="0"/>
                  </a:lnTo>
                  <a:lnTo>
                    <a:pt x="14228774" y="8003685"/>
                  </a:lnTo>
                  <a:lnTo>
                    <a:pt x="0" y="8003685"/>
                  </a:lnTo>
                  <a:lnTo>
                    <a:pt x="0" y="0"/>
                  </a:lnTo>
                  <a:close/>
                </a:path>
              </a:pathLst>
            </a:custGeom>
            <a:blipFill>
              <a:blip r:embed="rId2"/>
              <a:stretch>
                <a:fillRect l="-638315" t="-1983839" r="-595456" b="-542079"/>
              </a:stretch>
            </a:blipFill>
          </p:spPr>
          <p:txBody>
            <a:bodyPr/>
            <a:lstStyle/>
            <a:p>
              <a:endParaRP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38</a:t>
              </a:r>
            </a:p>
          </p:txBody>
        </p:sp>
      </p:grpSp>
      <p:sp>
        <p:nvSpPr>
          <p:cNvPr id="8" name="TextBox 8"/>
          <p:cNvSpPr txBox="1"/>
          <p:nvPr/>
        </p:nvSpPr>
        <p:spPr>
          <a:xfrm>
            <a:off x="1028700" y="621030"/>
            <a:ext cx="16230600" cy="87757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27:</a:t>
            </a:r>
            <a:r>
              <a:rPr lang="en-US" sz="2800">
                <a:solidFill>
                  <a:srgbClr val="000000"/>
                </a:solidFill>
                <a:latin typeface="Glacial Indifference"/>
                <a:ea typeface="Glacial Indifference"/>
                <a:cs typeface="Glacial Indifference"/>
                <a:sym typeface="Glacial Indifference"/>
              </a:rPr>
              <a:t> habiendo ejecutado dichos comandos me apareció automáticamente la ruta del servidor de desarrollo local http://localhost:4200/.</a:t>
            </a:r>
          </a:p>
        </p:txBody>
      </p:sp>
      <p:grpSp>
        <p:nvGrpSpPr>
          <p:cNvPr id="10" name="Grupo 9">
            <a:extLst>
              <a:ext uri="{FF2B5EF4-FFF2-40B4-BE49-F238E27FC236}">
                <a16:creationId xmlns:a16="http://schemas.microsoft.com/office/drawing/2014/main" id="{1D0B0FFC-3364-4B58-8005-8A5583BEC20A}"/>
              </a:ext>
            </a:extLst>
          </p:cNvPr>
          <p:cNvGrpSpPr/>
          <p:nvPr/>
        </p:nvGrpSpPr>
        <p:grpSpPr>
          <a:xfrm>
            <a:off x="2129662" y="2109803"/>
            <a:ext cx="14028675" cy="7522829"/>
            <a:chOff x="2129662" y="2109803"/>
            <a:chExt cx="14028675" cy="7522829"/>
          </a:xfrm>
        </p:grpSpPr>
        <p:sp>
          <p:nvSpPr>
            <p:cNvPr id="7" name="Freeform 7"/>
            <p:cNvSpPr/>
            <p:nvPr/>
          </p:nvSpPr>
          <p:spPr>
            <a:xfrm>
              <a:off x="2129662" y="2109803"/>
              <a:ext cx="14028675" cy="7522829"/>
            </a:xfrm>
            <a:custGeom>
              <a:avLst/>
              <a:gdLst/>
              <a:ahLst/>
              <a:cxnLst/>
              <a:rect l="l" t="t" r="r" b="b"/>
              <a:pathLst>
                <a:path w="14028676" h="7891131">
                  <a:moveTo>
                    <a:pt x="0" y="0"/>
                  </a:moveTo>
                  <a:lnTo>
                    <a:pt x="14028676" y="0"/>
                  </a:lnTo>
                  <a:lnTo>
                    <a:pt x="14028676" y="7891130"/>
                  </a:lnTo>
                  <a:lnTo>
                    <a:pt x="0" y="7891130"/>
                  </a:lnTo>
                  <a:lnTo>
                    <a:pt x="0" y="0"/>
                  </a:lnTo>
                  <a:close/>
                </a:path>
              </a:pathLst>
            </a:custGeom>
            <a:blipFill>
              <a:blip r:embed="rId2"/>
              <a:stretch>
                <a:fillRect b="-4896"/>
              </a:stretch>
            </a:blipFill>
          </p:spPr>
          <p:txBody>
            <a:bodyPr/>
            <a:lstStyle/>
            <a:p>
              <a:endParaRPr/>
            </a:p>
          </p:txBody>
        </p:sp>
        <p:sp>
          <p:nvSpPr>
            <p:cNvPr id="9" name="Freeform 7">
              <a:extLst>
                <a:ext uri="{FF2B5EF4-FFF2-40B4-BE49-F238E27FC236}">
                  <a16:creationId xmlns:a16="http://schemas.microsoft.com/office/drawing/2014/main" id="{844FA176-F6B1-4505-814E-ACA371D9E10C}"/>
                </a:ext>
              </a:extLst>
            </p:cNvPr>
            <p:cNvSpPr/>
            <p:nvPr/>
          </p:nvSpPr>
          <p:spPr>
            <a:xfrm>
              <a:off x="9144000" y="7504788"/>
              <a:ext cx="909944" cy="334964"/>
            </a:xfrm>
            <a:custGeom>
              <a:avLst/>
              <a:gdLst/>
              <a:ahLst/>
              <a:cxnLst/>
              <a:rect l="l" t="t" r="r" b="b"/>
              <a:pathLst>
                <a:path w="14028676" h="7891131">
                  <a:moveTo>
                    <a:pt x="0" y="0"/>
                  </a:moveTo>
                  <a:lnTo>
                    <a:pt x="14028676" y="0"/>
                  </a:lnTo>
                  <a:lnTo>
                    <a:pt x="14028676" y="7891130"/>
                  </a:lnTo>
                  <a:lnTo>
                    <a:pt x="0" y="7891130"/>
                  </a:lnTo>
                  <a:lnTo>
                    <a:pt x="0" y="0"/>
                  </a:lnTo>
                  <a:close/>
                </a:path>
              </a:pathLst>
            </a:custGeom>
            <a:blipFill>
              <a:blip r:embed="rId2"/>
              <a:stretch>
                <a:fillRect l="-512823" t="-1997625" r="-537823" b="-258187"/>
              </a:stretch>
            </a:blipFill>
          </p:spPr>
          <p:txBody>
            <a:bodyPr/>
            <a:lstStyle/>
            <a:p>
              <a:endParaRP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39</a:t>
              </a:r>
            </a:p>
          </p:txBody>
        </p:sp>
      </p:grpSp>
      <p:sp>
        <p:nvSpPr>
          <p:cNvPr id="7" name="Freeform 7"/>
          <p:cNvSpPr/>
          <p:nvPr/>
        </p:nvSpPr>
        <p:spPr>
          <a:xfrm>
            <a:off x="2472617" y="2500389"/>
            <a:ext cx="13342765" cy="7137006"/>
          </a:xfrm>
          <a:custGeom>
            <a:avLst/>
            <a:gdLst/>
            <a:ahLst/>
            <a:cxnLst/>
            <a:rect l="l" t="t" r="r" b="b"/>
            <a:pathLst>
              <a:path w="13342765" h="7505306">
                <a:moveTo>
                  <a:pt x="0" y="0"/>
                </a:moveTo>
                <a:lnTo>
                  <a:pt x="13342766" y="0"/>
                </a:lnTo>
                <a:lnTo>
                  <a:pt x="13342766" y="7505306"/>
                </a:lnTo>
                <a:lnTo>
                  <a:pt x="0" y="7505306"/>
                </a:lnTo>
                <a:lnTo>
                  <a:pt x="0" y="0"/>
                </a:lnTo>
                <a:close/>
              </a:path>
            </a:pathLst>
          </a:custGeom>
          <a:blipFill>
            <a:blip r:embed="rId2"/>
            <a:stretch>
              <a:fillRect b="-5160"/>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28:</a:t>
            </a:r>
            <a:r>
              <a:rPr lang="en-US" sz="2800">
                <a:solidFill>
                  <a:srgbClr val="000000"/>
                </a:solidFill>
                <a:latin typeface="Glacial Indifference"/>
                <a:ea typeface="Glacial Indifference"/>
                <a:cs typeface="Glacial Indifference"/>
                <a:sym typeface="Glacial Indifference"/>
              </a:rPr>
              <a:t> al acceder a la ruta del servidor de desarrollo local pude visualizar el contenido web de mi app React en tiempo real y al mismo tiempo procedí a probar su funcionamiento para ello ingrese datos de prueba y después seleccione </a:t>
            </a:r>
            <a:r>
              <a:rPr lang="en-US" sz="2800" b="1">
                <a:solidFill>
                  <a:srgbClr val="000000"/>
                </a:solidFill>
                <a:latin typeface="Glacial Indifference Bold"/>
                <a:ea typeface="Glacial Indifference Bold"/>
                <a:cs typeface="Glacial Indifference Bold"/>
                <a:sym typeface="Glacial Indifference Bold"/>
              </a:rPr>
              <a:t>“Guardar”.</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9258300"/>
            <a:ext cx="525494" cy="520700"/>
            <a:chOff x="0" y="0"/>
            <a:chExt cx="700659" cy="694267"/>
          </a:xfrm>
        </p:grpSpPr>
        <p:grpSp>
          <p:nvGrpSpPr>
            <p:cNvPr id="3" name="Group 3"/>
            <p:cNvGrpSpPr/>
            <p:nvPr/>
          </p:nvGrpSpPr>
          <p:grpSpPr>
            <a:xfrm>
              <a:off x="0" y="0"/>
              <a:ext cx="700659" cy="694267"/>
              <a:chOff x="0" y="0"/>
              <a:chExt cx="138402" cy="137139"/>
            </a:xfrm>
          </p:grpSpPr>
          <p:sp>
            <p:nvSpPr>
              <p:cNvPr id="4" name="Freeform 4"/>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5" name="TextBox 5"/>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6" name="TextBox 6"/>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40</a:t>
              </a:r>
            </a:p>
          </p:txBody>
        </p:sp>
      </p:grpSp>
      <p:sp>
        <p:nvSpPr>
          <p:cNvPr id="7" name="Freeform 7"/>
          <p:cNvSpPr/>
          <p:nvPr/>
        </p:nvSpPr>
        <p:spPr>
          <a:xfrm>
            <a:off x="2480634" y="2537983"/>
            <a:ext cx="13326732" cy="7127987"/>
          </a:xfrm>
          <a:custGeom>
            <a:avLst/>
            <a:gdLst/>
            <a:ahLst/>
            <a:cxnLst/>
            <a:rect l="l" t="t" r="r" b="b"/>
            <a:pathLst>
              <a:path w="13326733" h="7496286">
                <a:moveTo>
                  <a:pt x="0" y="0"/>
                </a:moveTo>
                <a:lnTo>
                  <a:pt x="13326734" y="0"/>
                </a:lnTo>
                <a:lnTo>
                  <a:pt x="13326734" y="7496287"/>
                </a:lnTo>
                <a:lnTo>
                  <a:pt x="0" y="7496287"/>
                </a:lnTo>
                <a:lnTo>
                  <a:pt x="0" y="0"/>
                </a:lnTo>
                <a:close/>
              </a:path>
            </a:pathLst>
          </a:custGeom>
          <a:blipFill>
            <a:blip r:embed="rId2"/>
            <a:stretch>
              <a:fillRect b="-5166"/>
            </a:stretch>
          </a:blipFill>
        </p:spPr>
        <p:txBody>
          <a:bodyPr/>
          <a:lstStyle/>
          <a:p>
            <a:endParaRPr/>
          </a:p>
        </p:txBody>
      </p:sp>
      <p:sp>
        <p:nvSpPr>
          <p:cNvPr id="8" name="TextBox 8"/>
          <p:cNvSpPr txBox="1"/>
          <p:nvPr/>
        </p:nvSpPr>
        <p:spPr>
          <a:xfrm>
            <a:off x="1028700" y="621030"/>
            <a:ext cx="16230600" cy="1315720"/>
          </a:xfrm>
          <a:prstGeom prst="rect">
            <a:avLst/>
          </a:prstGeom>
        </p:spPr>
        <p:txBody>
          <a:bodyPr lIns="0" tIns="0" rIns="0" bIns="0" rtlCol="0" anchor="t">
            <a:spAutoFit/>
          </a:bodyPr>
          <a:lstStyle/>
          <a:p>
            <a:pPr algn="just">
              <a:lnSpc>
                <a:spcPts val="3500"/>
              </a:lnSpc>
            </a:pPr>
            <a:r>
              <a:rPr lang="en-US" sz="2800" b="1">
                <a:solidFill>
                  <a:srgbClr val="000000"/>
                </a:solidFill>
                <a:latin typeface="Glacial Indifference Bold"/>
                <a:ea typeface="Glacial Indifference Bold"/>
                <a:cs typeface="Glacial Indifference Bold"/>
                <a:sym typeface="Glacial Indifference Bold"/>
              </a:rPr>
              <a:t>Paso 29:</a:t>
            </a:r>
            <a:r>
              <a:rPr lang="en-US" sz="2800">
                <a:solidFill>
                  <a:srgbClr val="000000"/>
                </a:solidFill>
                <a:latin typeface="Glacial Indifference"/>
                <a:ea typeface="Glacial Indifference"/>
                <a:cs typeface="Glacial Indifference"/>
                <a:sym typeface="Glacial Indifference"/>
              </a:rPr>
              <a:t> hecho lo anterior, pude comprobar que el la conexión y el funcionamiento del backend y el frontend es correcto ya que me permitió ingresar, consultar, actualizar y eliminar datos de forma correcta.</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94502"/>
            <a:ext cx="16230600" cy="3654847"/>
          </a:xfrm>
          <a:prstGeom prst="rect">
            <a:avLst/>
          </a:prstGeom>
        </p:spPr>
        <p:txBody>
          <a:bodyPr lIns="0" tIns="0" rIns="0" bIns="0" rtlCol="0" anchor="t">
            <a:spAutoFit/>
          </a:bodyPr>
          <a:lstStyle/>
          <a:p>
            <a:pPr algn="just">
              <a:lnSpc>
                <a:spcPts val="4125"/>
              </a:lnSpc>
            </a:pPr>
            <a:r>
              <a:rPr lang="en-US" sz="3300" dirty="0" err="1">
                <a:solidFill>
                  <a:srgbClr val="253754"/>
                </a:solidFill>
                <a:latin typeface="Glacial Indifference"/>
                <a:ea typeface="Glacial Indifference"/>
                <a:cs typeface="Glacial Indifference"/>
                <a:sym typeface="Glacial Indifference"/>
              </a:rPr>
              <a:t>Puedo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concluir</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esta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practica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fue</a:t>
            </a:r>
            <a:r>
              <a:rPr lang="en-US" sz="3300" dirty="0">
                <a:solidFill>
                  <a:srgbClr val="253754"/>
                </a:solidFill>
                <a:latin typeface="Glacial Indifference"/>
                <a:ea typeface="Glacial Indifference"/>
                <a:cs typeface="Glacial Indifference"/>
                <a:sym typeface="Glacial Indifference"/>
              </a:rPr>
              <a:t> de gran </a:t>
            </a:r>
            <a:r>
              <a:rPr lang="en-US" sz="3300" dirty="0" err="1">
                <a:solidFill>
                  <a:srgbClr val="253754"/>
                </a:solidFill>
                <a:latin typeface="Glacial Indifference"/>
                <a:ea typeface="Glacial Indifference"/>
                <a:cs typeface="Glacial Indifference"/>
                <a:sym typeface="Glacial Indifference"/>
              </a:rPr>
              <a:t>importancia</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ya</a:t>
            </a:r>
            <a:r>
              <a:rPr lang="en-US" sz="3300" dirty="0">
                <a:solidFill>
                  <a:srgbClr val="253754"/>
                </a:solidFill>
                <a:latin typeface="Glacial Indifference"/>
                <a:ea typeface="Glacial Indifference"/>
                <a:cs typeface="Glacial Indifference"/>
                <a:sym typeface="Glacial Indifference"/>
              </a:rPr>
              <a:t> que a traves del framework Angular me </a:t>
            </a:r>
            <a:r>
              <a:rPr lang="en-US" sz="3300" dirty="0" err="1">
                <a:solidFill>
                  <a:srgbClr val="253754"/>
                </a:solidFill>
                <a:latin typeface="Glacial Indifference"/>
                <a:ea typeface="Glacial Indifference"/>
                <a:cs typeface="Glacial Indifference"/>
                <a:sym typeface="Glacial Indifference"/>
              </a:rPr>
              <a:t>permitio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desarrollar</a:t>
            </a:r>
            <a:r>
              <a:rPr lang="en-US" sz="3300" dirty="0">
                <a:solidFill>
                  <a:srgbClr val="253754"/>
                </a:solidFill>
                <a:latin typeface="Glacial Indifference"/>
                <a:ea typeface="Glacial Indifference"/>
                <a:cs typeface="Glacial Indifference"/>
                <a:sym typeface="Glacial Indifference"/>
              </a:rPr>
              <a:t> una </a:t>
            </a:r>
            <a:r>
              <a:rPr lang="en-US" sz="3300" dirty="0" err="1">
                <a:solidFill>
                  <a:srgbClr val="253754"/>
                </a:solidFill>
                <a:latin typeface="Glacial Indifference"/>
                <a:ea typeface="Glacial Indifference"/>
                <a:cs typeface="Glacial Indifference"/>
                <a:sym typeface="Glacial Indifference"/>
              </a:rPr>
              <a:t>interfaz</a:t>
            </a:r>
            <a:r>
              <a:rPr lang="en-US" sz="3300" dirty="0">
                <a:solidFill>
                  <a:srgbClr val="253754"/>
                </a:solidFill>
                <a:latin typeface="Glacial Indifference"/>
                <a:ea typeface="Glacial Indifference"/>
                <a:cs typeface="Glacial Indifference"/>
                <a:sym typeface="Glacial Indifference"/>
              </a:rPr>
              <a:t> web </a:t>
            </a:r>
            <a:r>
              <a:rPr lang="en-US" sz="3300" dirty="0" err="1">
                <a:solidFill>
                  <a:srgbClr val="253754"/>
                </a:solidFill>
                <a:latin typeface="Glacial Indifference"/>
                <a:ea typeface="Glacial Indifference"/>
                <a:cs typeface="Glacial Indifference"/>
                <a:sym typeface="Glacial Indifference"/>
              </a:rPr>
              <a:t>capaz</a:t>
            </a:r>
            <a:r>
              <a:rPr lang="en-US" sz="3300" dirty="0">
                <a:solidFill>
                  <a:srgbClr val="253754"/>
                </a:solidFill>
                <a:latin typeface="Glacial Indifference"/>
                <a:ea typeface="Glacial Indifference"/>
                <a:cs typeface="Glacial Indifference"/>
                <a:sym typeface="Glacial Indifference"/>
              </a:rPr>
              <a:t> de </a:t>
            </a:r>
            <a:r>
              <a:rPr lang="en-US" sz="3300" dirty="0" err="1">
                <a:solidFill>
                  <a:srgbClr val="253754"/>
                </a:solidFill>
                <a:latin typeface="Glacial Indifference"/>
                <a:ea typeface="Glacial Indifference"/>
                <a:cs typeface="Glacial Indifference"/>
                <a:sym typeface="Glacial Indifference"/>
              </a:rPr>
              <a:t>consumir</a:t>
            </a:r>
            <a:r>
              <a:rPr lang="en-US" sz="3300" dirty="0">
                <a:solidFill>
                  <a:srgbClr val="253754"/>
                </a:solidFill>
                <a:latin typeface="Glacial Indifference"/>
                <a:ea typeface="Glacial Indifference"/>
                <a:cs typeface="Glacial Indifference"/>
                <a:sym typeface="Glacial Indifference"/>
              </a:rPr>
              <a:t> los </a:t>
            </a:r>
            <a:r>
              <a:rPr lang="en-US" sz="3300" dirty="0" err="1">
                <a:solidFill>
                  <a:srgbClr val="253754"/>
                </a:solidFill>
                <a:latin typeface="Glacial Indifference"/>
                <a:ea typeface="Glacial Indifference"/>
                <a:cs typeface="Glacial Indifference"/>
                <a:sym typeface="Glacial Indifference"/>
              </a:rPr>
              <a:t>microservicios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creados</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anteriormente</a:t>
            </a:r>
            <a:r>
              <a:rPr lang="en-US" sz="3300" dirty="0">
                <a:solidFill>
                  <a:srgbClr val="253754"/>
                </a:solidFill>
                <a:latin typeface="Glacial Indifference"/>
                <a:ea typeface="Glacial Indifference"/>
                <a:cs typeface="Glacial Indifference"/>
                <a:sym typeface="Glacial Indifference"/>
              </a:rPr>
              <a:t>. </a:t>
            </a:r>
          </a:p>
          <a:p>
            <a:pPr algn="just">
              <a:lnSpc>
                <a:spcPts val="4125"/>
              </a:lnSpc>
            </a:pPr>
            <a:endParaRPr lang="en-US" sz="3300" dirty="0">
              <a:solidFill>
                <a:srgbClr val="253754"/>
              </a:solidFill>
              <a:latin typeface="Glacial Indifference"/>
              <a:ea typeface="Glacial Indifference"/>
              <a:cs typeface="Glacial Indifference"/>
              <a:sym typeface="Glacial Indifference"/>
            </a:endParaRPr>
          </a:p>
          <a:p>
            <a:pPr algn="just">
              <a:lnSpc>
                <a:spcPts val="4125"/>
              </a:lnSpc>
            </a:pPr>
            <a:r>
              <a:rPr lang="en-US" sz="3300" dirty="0">
                <a:solidFill>
                  <a:srgbClr val="253754"/>
                </a:solidFill>
                <a:latin typeface="Glacial Indifference"/>
                <a:ea typeface="Glacial Indifference"/>
                <a:cs typeface="Glacial Indifference"/>
                <a:sym typeface="Glacial Indifference"/>
              </a:rPr>
              <a:t>Al </a:t>
            </a:r>
            <a:r>
              <a:rPr lang="en-US" sz="3300" dirty="0" err="1">
                <a:solidFill>
                  <a:srgbClr val="253754"/>
                </a:solidFill>
                <a:latin typeface="Glacial Indifference"/>
                <a:ea typeface="Glacial Indifference"/>
                <a:cs typeface="Glacial Indifference"/>
                <a:sym typeface="Glacial Indifference"/>
              </a:rPr>
              <a:t>mismo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tiempo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puedo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decir</a:t>
            </a:r>
            <a:r>
              <a:rPr lang="en-US" sz="3300" dirty="0">
                <a:solidFill>
                  <a:srgbClr val="253754"/>
                </a:solidFill>
                <a:latin typeface="Glacial Indifference"/>
                <a:ea typeface="Glacial Indifference"/>
                <a:cs typeface="Glacial Indifference"/>
                <a:sym typeface="Glacial Indifference"/>
              </a:rPr>
              <a:t> que </a:t>
            </a:r>
            <a:r>
              <a:rPr lang="en-US" sz="3300" dirty="0" err="1">
                <a:solidFill>
                  <a:srgbClr val="253754"/>
                </a:solidFill>
                <a:latin typeface="Glacial Indifference"/>
                <a:ea typeface="Glacial Indifference"/>
                <a:cs typeface="Glacial Indifference"/>
                <a:sym typeface="Glacial Indifference"/>
              </a:rPr>
              <a:t>fue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importante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ya</a:t>
            </a:r>
            <a:r>
              <a:rPr lang="en-US" sz="3300" dirty="0">
                <a:solidFill>
                  <a:srgbClr val="253754"/>
                </a:solidFill>
                <a:latin typeface="Glacial Indifference"/>
                <a:ea typeface="Glacial Indifference"/>
                <a:cs typeface="Glacial Indifference"/>
                <a:sym typeface="Glacial Indifference"/>
              </a:rPr>
              <a:t> que me </a:t>
            </a:r>
            <a:r>
              <a:rPr lang="en-US" sz="3300" dirty="0" err="1">
                <a:solidFill>
                  <a:srgbClr val="253754"/>
                </a:solidFill>
                <a:latin typeface="Glacial Indifference"/>
                <a:ea typeface="Glacial Indifference"/>
                <a:cs typeface="Glacial Indifference"/>
                <a:sym typeface="Glacial Indifference"/>
              </a:rPr>
              <a:t>permitio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comprender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proceso</a:t>
            </a:r>
            <a:r>
              <a:rPr lang="en-US" sz="3300" dirty="0">
                <a:solidFill>
                  <a:srgbClr val="253754"/>
                </a:solidFill>
                <a:latin typeface="Glacial Indifference"/>
                <a:ea typeface="Glacial Indifference"/>
                <a:cs typeface="Glacial Indifference"/>
                <a:sym typeface="Glacial Indifference"/>
              </a:rPr>
              <a:t> que se </a:t>
            </a:r>
            <a:r>
              <a:rPr lang="en-US" sz="3300" dirty="0" err="1">
                <a:solidFill>
                  <a:srgbClr val="253754"/>
                </a:solidFill>
                <a:latin typeface="Glacial Indifference"/>
                <a:ea typeface="Glacial Indifference"/>
                <a:cs typeface="Glacial Indifference"/>
                <a:sym typeface="Glacial Indifference"/>
              </a:rPr>
              <a:t>lleva</a:t>
            </a:r>
            <a:r>
              <a:rPr lang="en-US" sz="3300" dirty="0">
                <a:solidFill>
                  <a:srgbClr val="253754"/>
                </a:solidFill>
                <a:latin typeface="Glacial Indifference"/>
                <a:ea typeface="Glacial Indifference"/>
                <a:cs typeface="Glacial Indifference"/>
                <a:sym typeface="Glacial Indifference"/>
              </a:rPr>
              <a:t> a </a:t>
            </a:r>
            <a:r>
              <a:rPr lang="en-US" sz="3300" dirty="0" err="1">
                <a:solidFill>
                  <a:srgbClr val="253754"/>
                </a:solidFill>
                <a:latin typeface="Glacial Indifference"/>
                <a:ea typeface="Glacial Indifference"/>
                <a:cs typeface="Glacial Indifference"/>
                <a:sym typeface="Glacial Indifference"/>
              </a:rPr>
              <a:t>cabo</a:t>
            </a:r>
            <a:r>
              <a:rPr lang="en-US" sz="3300" dirty="0">
                <a:solidFill>
                  <a:srgbClr val="253754"/>
                </a:solidFill>
                <a:latin typeface="Glacial Indifference"/>
                <a:ea typeface="Glacial Indifference"/>
                <a:cs typeface="Glacial Indifference"/>
                <a:sym typeface="Glacial Indifference"/>
              </a:rPr>
              <a:t> para </a:t>
            </a:r>
            <a:r>
              <a:rPr lang="en-US" sz="3300" dirty="0" err="1">
                <a:solidFill>
                  <a:srgbClr val="253754"/>
                </a:solidFill>
                <a:latin typeface="Glacial Indifference"/>
                <a:ea typeface="Glacial Indifference"/>
                <a:cs typeface="Glacial Indifference"/>
                <a:sym typeface="Glacial Indifference"/>
              </a:rPr>
              <a:t>conectar</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frontend con </a:t>
            </a:r>
            <a:r>
              <a:rPr lang="en-US" sz="3300" dirty="0" err="1">
                <a:solidFill>
                  <a:srgbClr val="253754"/>
                </a:solidFill>
                <a:latin typeface="Glacial Indifference"/>
                <a:ea typeface="Glacial Indifference"/>
                <a:cs typeface="Glacial Indifference"/>
                <a:sym typeface="Glacial Indifference"/>
              </a:rPr>
              <a:t>el</a:t>
            </a:r>
            <a:r>
              <a:rPr lang="en-US" sz="3300" dirty="0">
                <a:solidFill>
                  <a:srgbClr val="253754"/>
                </a:solidFill>
                <a:latin typeface="Glacial Indifference"/>
                <a:ea typeface="Glacial Indifference"/>
                <a:cs typeface="Glacial Indifference"/>
                <a:sym typeface="Glacial Indifference"/>
              </a:rPr>
              <a:t> backend, </a:t>
            </a:r>
            <a:r>
              <a:rPr lang="en-US" sz="3300" dirty="0" err="1">
                <a:solidFill>
                  <a:srgbClr val="253754"/>
                </a:solidFill>
                <a:latin typeface="Glacial Indifference"/>
                <a:ea typeface="Glacial Indifference"/>
                <a:cs typeface="Glacial Indifference"/>
                <a:sym typeface="Glacial Indifference"/>
              </a:rPr>
              <a:t>en</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este</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caso</a:t>
            </a:r>
            <a:r>
              <a:rPr lang="en-US" sz="3300" dirty="0">
                <a:solidFill>
                  <a:srgbClr val="253754"/>
                </a:solidFill>
                <a:latin typeface="Glacial Indifference"/>
                <a:ea typeface="Glacial Indifference"/>
                <a:cs typeface="Glacial Indifference"/>
                <a:sym typeface="Glacial Indifference"/>
              </a:rPr>
              <a:t> </a:t>
            </a:r>
            <a:r>
              <a:rPr lang="en-US" sz="3300" dirty="0" err="1">
                <a:solidFill>
                  <a:srgbClr val="253754"/>
                </a:solidFill>
                <a:latin typeface="Glacial Indifference"/>
                <a:ea typeface="Glacial Indifference"/>
                <a:cs typeface="Glacial Indifference"/>
                <a:sym typeface="Glacial Indifference"/>
              </a:rPr>
              <a:t>conectar</a:t>
            </a:r>
            <a:r>
              <a:rPr lang="en-US" sz="3300" dirty="0">
                <a:solidFill>
                  <a:srgbClr val="253754"/>
                </a:solidFill>
                <a:latin typeface="Glacial Indifference"/>
                <a:ea typeface="Glacial Indifference"/>
                <a:cs typeface="Glacial Indifference"/>
                <a:sym typeface="Glacial Indifference"/>
              </a:rPr>
              <a:t> la </a:t>
            </a:r>
            <a:r>
              <a:rPr lang="en-US" sz="3300" dirty="0" err="1">
                <a:solidFill>
                  <a:srgbClr val="253754"/>
                </a:solidFill>
                <a:latin typeface="Glacial Indifference"/>
                <a:ea typeface="Glacial Indifference"/>
                <a:cs typeface="Glacial Indifference"/>
                <a:sym typeface="Glacial Indifference"/>
              </a:rPr>
              <a:t>interfaz</a:t>
            </a:r>
            <a:r>
              <a:rPr lang="en-US" sz="3300" dirty="0">
                <a:solidFill>
                  <a:srgbClr val="253754"/>
                </a:solidFill>
                <a:latin typeface="Glacial Indifference"/>
                <a:ea typeface="Glacial Indifference"/>
                <a:cs typeface="Glacial Indifference"/>
                <a:sym typeface="Glacial Indifference"/>
              </a:rPr>
              <a:t> web </a:t>
            </a:r>
            <a:r>
              <a:rPr lang="en-US" sz="3300" dirty="0" err="1">
                <a:solidFill>
                  <a:srgbClr val="253754"/>
                </a:solidFill>
                <a:latin typeface="Glacial Indifference"/>
                <a:ea typeface="Glacial Indifference"/>
                <a:cs typeface="Glacial Indifference"/>
                <a:sym typeface="Glacial Indifference"/>
              </a:rPr>
              <a:t>desarrollada</a:t>
            </a:r>
            <a:r>
              <a:rPr lang="en-US" sz="3300" dirty="0">
                <a:solidFill>
                  <a:srgbClr val="253754"/>
                </a:solidFill>
                <a:latin typeface="Glacial Indifference"/>
                <a:ea typeface="Glacial Indifference"/>
                <a:cs typeface="Glacial Indifference"/>
                <a:sym typeface="Glacial Indifference"/>
              </a:rPr>
              <a:t> con Angular y la base de </a:t>
            </a:r>
            <a:r>
              <a:rPr lang="en-US" sz="3300" dirty="0" err="1">
                <a:solidFill>
                  <a:srgbClr val="253754"/>
                </a:solidFill>
                <a:latin typeface="Glacial Indifference"/>
                <a:ea typeface="Glacial Indifference"/>
                <a:cs typeface="Glacial Indifference"/>
                <a:sym typeface="Glacial Indifference"/>
              </a:rPr>
              <a:t>datos</a:t>
            </a:r>
            <a:r>
              <a:rPr lang="en-US" sz="3300" dirty="0">
                <a:solidFill>
                  <a:srgbClr val="253754"/>
                </a:solidFill>
                <a:latin typeface="Glacial Indifference"/>
                <a:ea typeface="Glacial Indifference"/>
                <a:cs typeface="Glacial Indifference"/>
                <a:sym typeface="Glacial Indifference"/>
              </a:rPr>
              <a:t>.</a:t>
            </a:r>
          </a:p>
        </p:txBody>
      </p:sp>
      <p:sp>
        <p:nvSpPr>
          <p:cNvPr id="3" name="TextBox 3"/>
          <p:cNvSpPr txBox="1"/>
          <p:nvPr/>
        </p:nvSpPr>
        <p:spPr>
          <a:xfrm>
            <a:off x="3981198" y="266699"/>
            <a:ext cx="10325604" cy="762001"/>
          </a:xfrm>
          <a:prstGeom prst="rect">
            <a:avLst/>
          </a:prstGeom>
        </p:spPr>
        <p:txBody>
          <a:bodyPr lIns="0" tIns="0" rIns="0" bIns="0" rtlCol="0" anchor="t">
            <a:spAutoFit/>
          </a:bodyPr>
          <a:lstStyle/>
          <a:p>
            <a:pPr algn="ctr">
              <a:lnSpc>
                <a:spcPts val="6299"/>
              </a:lnSpc>
            </a:pPr>
            <a:r>
              <a:rPr lang="en-US" sz="4499" b="1">
                <a:solidFill>
                  <a:srgbClr val="152540"/>
                </a:solidFill>
                <a:latin typeface="Glacial Indifference Bold"/>
                <a:ea typeface="Glacial Indifference Bold"/>
                <a:cs typeface="Glacial Indifference Bold"/>
                <a:sym typeface="Glacial Indifference Bold"/>
              </a:rPr>
              <a:t>CONCLUSION</a:t>
            </a:r>
          </a:p>
        </p:txBody>
      </p:sp>
      <p:grpSp>
        <p:nvGrpSpPr>
          <p:cNvPr id="4" name="Group 4"/>
          <p:cNvGrpSpPr/>
          <p:nvPr/>
        </p:nvGrpSpPr>
        <p:grpSpPr>
          <a:xfrm>
            <a:off x="17259300" y="9258300"/>
            <a:ext cx="525494" cy="520700"/>
            <a:chOff x="0" y="0"/>
            <a:chExt cx="700659" cy="694267"/>
          </a:xfrm>
        </p:grpSpPr>
        <p:grpSp>
          <p:nvGrpSpPr>
            <p:cNvPr id="5" name="Group 5"/>
            <p:cNvGrpSpPr/>
            <p:nvPr/>
          </p:nvGrpSpPr>
          <p:grpSpPr>
            <a:xfrm>
              <a:off x="0" y="0"/>
              <a:ext cx="700659" cy="694267"/>
              <a:chOff x="0" y="0"/>
              <a:chExt cx="138402" cy="137139"/>
            </a:xfrm>
          </p:grpSpPr>
          <p:sp>
            <p:nvSpPr>
              <p:cNvPr id="6" name="Freeform 6"/>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152540"/>
              </a:solidFill>
            </p:spPr>
            <p:txBody>
              <a:bodyPr/>
              <a:lstStyle/>
              <a:p>
                <a:endParaRPr/>
              </a:p>
            </p:txBody>
          </p:sp>
          <p:sp>
            <p:nvSpPr>
              <p:cNvPr id="7" name="TextBox 7"/>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8" name="TextBox 8"/>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41</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294502"/>
            <a:ext cx="16230600" cy="3385542"/>
          </a:xfrm>
          <a:prstGeom prst="rect">
            <a:avLst/>
          </a:prstGeom>
        </p:spPr>
        <p:txBody>
          <a:bodyPr lIns="0" tIns="0" rIns="0" bIns="0" rtlCol="0" anchor="t">
            <a:spAutoFit/>
          </a:bodyPr>
          <a:lstStyle/>
          <a:p>
            <a:pPr algn="just">
              <a:lnSpc>
                <a:spcPts val="3750"/>
              </a:lnSpc>
            </a:pPr>
            <a:r>
              <a:rPr lang="en-US" sz="3000" dirty="0" err="1">
                <a:solidFill>
                  <a:srgbClr val="253754"/>
                </a:solidFill>
                <a:latin typeface="Glacial Indifference"/>
                <a:ea typeface="Glacial Indifference"/>
                <a:cs typeface="Glacial Indifference"/>
                <a:sym typeface="Glacial Indifference"/>
              </a:rPr>
              <a:t>divcode</a:t>
            </a:r>
            <a:r>
              <a:rPr lang="en-US" sz="3000" dirty="0">
                <a:solidFill>
                  <a:srgbClr val="253754"/>
                </a:solidFill>
                <a:latin typeface="Glacial Indifference"/>
                <a:ea typeface="Glacial Indifference"/>
                <a:cs typeface="Glacial Indifference"/>
                <a:sym typeface="Glacial Indifference"/>
              </a:rPr>
              <a:t> [@divcode7383]. (s/f). </a:t>
            </a:r>
            <a:r>
              <a:rPr lang="en-US" sz="3000" dirty="0" err="1">
                <a:solidFill>
                  <a:srgbClr val="253754"/>
                </a:solidFill>
                <a:latin typeface="Glacial Indifference"/>
                <a:ea typeface="Glacial Indifference"/>
                <a:cs typeface="Glacial Indifference"/>
                <a:sym typeface="Glacial Indifference"/>
              </a:rPr>
              <a:t>como</a:t>
            </a:r>
            <a:r>
              <a:rPr lang="en-US" sz="3000" dirty="0">
                <a:solidFill>
                  <a:srgbClr val="253754"/>
                </a:solidFill>
                <a:latin typeface="Glacial Indifference"/>
                <a:ea typeface="Glacial Indifference"/>
                <a:cs typeface="Glacial Indifference"/>
                <a:sym typeface="Glacial Indifference"/>
              </a:rPr>
              <a:t> CREAR un PROYECTO de ANGULAR </a:t>
            </a:r>
            <a:r>
              <a:rPr lang="en-US" sz="3000" dirty="0" err="1">
                <a:solidFill>
                  <a:srgbClr val="253754"/>
                </a:solidFill>
                <a:latin typeface="Glacial Indifference"/>
                <a:ea typeface="Glacial Indifference"/>
                <a:cs typeface="Glacial Indifference"/>
                <a:sym typeface="Glacial Indifference"/>
              </a:rPr>
              <a:t>en</a:t>
            </a:r>
            <a:r>
              <a:rPr lang="en-US" sz="3000" dirty="0">
                <a:solidFill>
                  <a:srgbClr val="253754"/>
                </a:solidFill>
                <a:latin typeface="Glacial Indifference"/>
                <a:ea typeface="Glacial Indifference"/>
                <a:cs typeface="Glacial Indifference"/>
                <a:sym typeface="Glacial Indifference"/>
              </a:rPr>
              <a:t> VISUAL STUDIO CODE [[Object Object]]. </a:t>
            </a:r>
            <a:r>
              <a:rPr lang="en-US" sz="3000" dirty="0" err="1">
                <a:solidFill>
                  <a:srgbClr val="253754"/>
                </a:solidFill>
                <a:latin typeface="Glacial Indifference"/>
                <a:ea typeface="Glacial Indifference"/>
                <a:cs typeface="Glacial Indifference"/>
                <a:sym typeface="Glacial Indifference"/>
              </a:rPr>
              <a:t>Youtube</a:t>
            </a:r>
            <a:r>
              <a:rPr lang="en-US" sz="3000" dirty="0">
                <a:solidFill>
                  <a:srgbClr val="253754"/>
                </a:solidFill>
                <a:latin typeface="Glacial Indifference"/>
                <a:ea typeface="Glacial Indifference"/>
                <a:cs typeface="Glacial Indifference"/>
                <a:sym typeface="Glacial Indifference"/>
              </a:rPr>
              <a:t>. </a:t>
            </a:r>
            <a:r>
              <a:rPr lang="en-US" sz="3000" dirty="0" err="1">
                <a:solidFill>
                  <a:srgbClr val="253754"/>
                </a:solidFill>
                <a:latin typeface="Glacial Indifference"/>
                <a:ea typeface="Glacial Indifference"/>
                <a:cs typeface="Glacial Indifference"/>
                <a:sym typeface="Glacial Indifference"/>
              </a:rPr>
              <a:t>Recuperado</a:t>
            </a:r>
            <a:r>
              <a:rPr lang="en-US" sz="3000" dirty="0">
                <a:solidFill>
                  <a:srgbClr val="253754"/>
                </a:solidFill>
                <a:latin typeface="Glacial Indifference"/>
                <a:ea typeface="Glacial Indifference"/>
                <a:cs typeface="Glacial Indifference"/>
                <a:sym typeface="Glacial Indifference"/>
              </a:rPr>
              <a:t> </a:t>
            </a:r>
            <a:r>
              <a:rPr lang="en-US" sz="3000" dirty="0" err="1">
                <a:solidFill>
                  <a:srgbClr val="253754"/>
                </a:solidFill>
                <a:latin typeface="Glacial Indifference"/>
                <a:ea typeface="Glacial Indifference"/>
                <a:cs typeface="Glacial Indifference"/>
                <a:sym typeface="Glacial Indifference"/>
              </a:rPr>
              <a:t>el</a:t>
            </a:r>
            <a:r>
              <a:rPr lang="en-US" sz="3000" dirty="0">
                <a:solidFill>
                  <a:srgbClr val="253754"/>
                </a:solidFill>
                <a:latin typeface="Glacial Indifference"/>
                <a:ea typeface="Glacial Indifference"/>
                <a:cs typeface="Glacial Indifference"/>
                <a:sym typeface="Glacial Indifference"/>
              </a:rPr>
              <a:t> 12 de </a:t>
            </a:r>
            <a:r>
              <a:rPr lang="en-US" sz="3000" dirty="0" err="1">
                <a:solidFill>
                  <a:srgbClr val="253754"/>
                </a:solidFill>
                <a:latin typeface="Glacial Indifference"/>
                <a:ea typeface="Glacial Indifference"/>
                <a:cs typeface="Glacial Indifference"/>
                <a:sym typeface="Glacial Indifference"/>
              </a:rPr>
              <a:t>junio</a:t>
            </a:r>
            <a:r>
              <a:rPr lang="en-US" sz="3000" dirty="0">
                <a:solidFill>
                  <a:srgbClr val="253754"/>
                </a:solidFill>
                <a:latin typeface="Glacial Indifference"/>
                <a:ea typeface="Glacial Indifference"/>
                <a:cs typeface="Glacial Indifference"/>
                <a:sym typeface="Glacial Indifference"/>
              </a:rPr>
              <a:t> de 2026, de https://www.youtube.com/watch?v=k8o9-QX298g</a:t>
            </a:r>
          </a:p>
          <a:p>
            <a:pPr algn="just">
              <a:lnSpc>
                <a:spcPts val="3750"/>
              </a:lnSpc>
            </a:pPr>
            <a:endParaRPr lang="en-US" sz="3000" dirty="0">
              <a:solidFill>
                <a:srgbClr val="253754"/>
              </a:solidFill>
              <a:latin typeface="Glacial Indifference"/>
              <a:ea typeface="Glacial Indifference"/>
              <a:cs typeface="Glacial Indifference"/>
              <a:sym typeface="Glacial Indifference"/>
            </a:endParaRPr>
          </a:p>
          <a:p>
            <a:pPr algn="just">
              <a:lnSpc>
                <a:spcPts val="3750"/>
              </a:lnSpc>
            </a:pPr>
            <a:r>
              <a:rPr lang="en-US" sz="3000" dirty="0" err="1">
                <a:solidFill>
                  <a:srgbClr val="253754"/>
                </a:solidFill>
                <a:latin typeface="Glacial Indifference"/>
                <a:ea typeface="Glacial Indifference"/>
                <a:cs typeface="Glacial Indifference"/>
                <a:sym typeface="Glacial Indifference"/>
              </a:rPr>
              <a:t>Estilo</a:t>
            </a:r>
            <a:r>
              <a:rPr lang="en-US" sz="3000" dirty="0">
                <a:solidFill>
                  <a:srgbClr val="253754"/>
                </a:solidFill>
                <a:latin typeface="Glacial Indifference"/>
                <a:ea typeface="Glacial Indifference"/>
                <a:cs typeface="Glacial Indifference"/>
                <a:sym typeface="Glacial Indifference"/>
              </a:rPr>
              <a:t>, P. C. [@Programandoconestilo1]. (s/f). </a:t>
            </a:r>
            <a:r>
              <a:rPr lang="en-US" sz="3000" dirty="0" err="1">
                <a:solidFill>
                  <a:srgbClr val="253754"/>
                </a:solidFill>
                <a:latin typeface="Glacial Indifference"/>
                <a:ea typeface="Glacial Indifference"/>
                <a:cs typeface="Glacial Indifference"/>
                <a:sym typeface="Glacial Indifference"/>
              </a:rPr>
              <a:t>Cómo</a:t>
            </a:r>
            <a:r>
              <a:rPr lang="en-US" sz="3000" dirty="0">
                <a:solidFill>
                  <a:srgbClr val="253754"/>
                </a:solidFill>
                <a:latin typeface="Glacial Indifference"/>
                <a:ea typeface="Glacial Indifference"/>
                <a:cs typeface="Glacial Indifference"/>
                <a:sym typeface="Glacial Indifference"/>
              </a:rPr>
              <a:t> </a:t>
            </a:r>
            <a:r>
              <a:rPr lang="en-US" sz="3000" dirty="0" err="1">
                <a:solidFill>
                  <a:srgbClr val="253754"/>
                </a:solidFill>
                <a:latin typeface="Glacial Indifference"/>
                <a:ea typeface="Glacial Indifference"/>
                <a:cs typeface="Glacial Indifference"/>
                <a:sym typeface="Glacial Indifference"/>
              </a:rPr>
              <a:t>consumir</a:t>
            </a:r>
            <a:r>
              <a:rPr lang="en-US" sz="3000" dirty="0">
                <a:solidFill>
                  <a:srgbClr val="253754"/>
                </a:solidFill>
                <a:latin typeface="Glacial Indifference"/>
                <a:ea typeface="Glacial Indifference"/>
                <a:cs typeface="Glacial Indifference"/>
                <a:sym typeface="Glacial Indifference"/>
              </a:rPr>
              <a:t> una API </a:t>
            </a:r>
            <a:r>
              <a:rPr lang="en-US" sz="3000" dirty="0" err="1">
                <a:solidFill>
                  <a:srgbClr val="253754"/>
                </a:solidFill>
                <a:latin typeface="Glacial Indifference"/>
                <a:ea typeface="Glacial Indifference"/>
                <a:cs typeface="Glacial Indifference"/>
                <a:sym typeface="Glacial Indifference"/>
              </a:rPr>
              <a:t>RESTFul</a:t>
            </a:r>
            <a:r>
              <a:rPr lang="en-US" sz="3000" dirty="0">
                <a:solidFill>
                  <a:srgbClr val="253754"/>
                </a:solidFill>
                <a:latin typeface="Glacial Indifference"/>
                <a:ea typeface="Glacial Indifference"/>
                <a:cs typeface="Glacial Indifference"/>
                <a:sym typeface="Glacial Indifference"/>
              </a:rPr>
              <a:t> con Angular: Tutorial paso a paso [[Object Object]]. </a:t>
            </a:r>
            <a:r>
              <a:rPr lang="en-US" sz="3000" dirty="0" err="1">
                <a:solidFill>
                  <a:srgbClr val="253754"/>
                </a:solidFill>
                <a:latin typeface="Glacial Indifference"/>
                <a:ea typeface="Glacial Indifference"/>
                <a:cs typeface="Glacial Indifference"/>
                <a:sym typeface="Glacial Indifference"/>
              </a:rPr>
              <a:t>Youtube</a:t>
            </a:r>
            <a:r>
              <a:rPr lang="en-US" sz="3000" dirty="0">
                <a:solidFill>
                  <a:srgbClr val="253754"/>
                </a:solidFill>
                <a:latin typeface="Glacial Indifference"/>
                <a:ea typeface="Glacial Indifference"/>
                <a:cs typeface="Glacial Indifference"/>
                <a:sym typeface="Glacial Indifference"/>
              </a:rPr>
              <a:t>. </a:t>
            </a:r>
            <a:r>
              <a:rPr lang="en-US" sz="3000" dirty="0" err="1">
                <a:solidFill>
                  <a:srgbClr val="253754"/>
                </a:solidFill>
                <a:latin typeface="Glacial Indifference"/>
                <a:ea typeface="Glacial Indifference"/>
                <a:cs typeface="Glacial Indifference"/>
                <a:sym typeface="Glacial Indifference"/>
              </a:rPr>
              <a:t>Recuperado</a:t>
            </a:r>
            <a:r>
              <a:rPr lang="en-US" sz="3000" dirty="0">
                <a:solidFill>
                  <a:srgbClr val="253754"/>
                </a:solidFill>
                <a:latin typeface="Glacial Indifference"/>
                <a:ea typeface="Glacial Indifference"/>
                <a:cs typeface="Glacial Indifference"/>
                <a:sym typeface="Glacial Indifference"/>
              </a:rPr>
              <a:t> </a:t>
            </a:r>
            <a:r>
              <a:rPr lang="en-US" sz="3000" dirty="0" err="1">
                <a:solidFill>
                  <a:srgbClr val="253754"/>
                </a:solidFill>
                <a:latin typeface="Glacial Indifference"/>
                <a:ea typeface="Glacial Indifference"/>
                <a:cs typeface="Glacial Indifference"/>
                <a:sym typeface="Glacial Indifference"/>
              </a:rPr>
              <a:t>el</a:t>
            </a:r>
            <a:r>
              <a:rPr lang="en-US" sz="3000" dirty="0">
                <a:solidFill>
                  <a:srgbClr val="253754"/>
                </a:solidFill>
                <a:latin typeface="Glacial Indifference"/>
                <a:ea typeface="Glacial Indifference"/>
                <a:cs typeface="Glacial Indifference"/>
                <a:sym typeface="Glacial Indifference"/>
              </a:rPr>
              <a:t> 12 de </a:t>
            </a:r>
            <a:r>
              <a:rPr lang="en-US" sz="3000" dirty="0" err="1">
                <a:solidFill>
                  <a:srgbClr val="253754"/>
                </a:solidFill>
                <a:latin typeface="Glacial Indifference"/>
                <a:ea typeface="Glacial Indifference"/>
                <a:cs typeface="Glacial Indifference"/>
                <a:sym typeface="Glacial Indifference"/>
              </a:rPr>
              <a:t>junio</a:t>
            </a:r>
            <a:r>
              <a:rPr lang="en-US" sz="3000" dirty="0">
                <a:solidFill>
                  <a:srgbClr val="253754"/>
                </a:solidFill>
                <a:latin typeface="Glacial Indifference"/>
                <a:ea typeface="Glacial Indifference"/>
                <a:cs typeface="Glacial Indifference"/>
                <a:sym typeface="Glacial Indifference"/>
              </a:rPr>
              <a:t> de 2026, de https://www.youtube.com/watch?v=mTTVJcr0D_I</a:t>
            </a:r>
          </a:p>
        </p:txBody>
      </p:sp>
      <p:sp>
        <p:nvSpPr>
          <p:cNvPr id="3" name="TextBox 3"/>
          <p:cNvSpPr txBox="1"/>
          <p:nvPr/>
        </p:nvSpPr>
        <p:spPr>
          <a:xfrm>
            <a:off x="3537639" y="266699"/>
            <a:ext cx="11212723" cy="762001"/>
          </a:xfrm>
          <a:prstGeom prst="rect">
            <a:avLst/>
          </a:prstGeom>
        </p:spPr>
        <p:txBody>
          <a:bodyPr lIns="0" tIns="0" rIns="0" bIns="0" rtlCol="0" anchor="t">
            <a:spAutoFit/>
          </a:bodyPr>
          <a:lstStyle/>
          <a:p>
            <a:pPr algn="ctr">
              <a:lnSpc>
                <a:spcPts val="6299"/>
              </a:lnSpc>
            </a:pPr>
            <a:r>
              <a:rPr lang="en-US" sz="4499" b="1" spc="422">
                <a:solidFill>
                  <a:srgbClr val="152540"/>
                </a:solidFill>
                <a:latin typeface="Glacial Indifference Bold"/>
                <a:ea typeface="Glacial Indifference Bold"/>
                <a:cs typeface="Glacial Indifference Bold"/>
                <a:sym typeface="Glacial Indifference Bold"/>
              </a:rPr>
              <a:t>FUENTES DE INFORMACION</a:t>
            </a:r>
          </a:p>
        </p:txBody>
      </p:sp>
      <p:grpSp>
        <p:nvGrpSpPr>
          <p:cNvPr id="4" name="Group 4"/>
          <p:cNvGrpSpPr/>
          <p:nvPr/>
        </p:nvGrpSpPr>
        <p:grpSpPr>
          <a:xfrm>
            <a:off x="17259300" y="9258300"/>
            <a:ext cx="525494" cy="520700"/>
            <a:chOff x="0" y="0"/>
            <a:chExt cx="700659" cy="694267"/>
          </a:xfrm>
        </p:grpSpPr>
        <p:grpSp>
          <p:nvGrpSpPr>
            <p:cNvPr id="5" name="Group 5"/>
            <p:cNvGrpSpPr/>
            <p:nvPr/>
          </p:nvGrpSpPr>
          <p:grpSpPr>
            <a:xfrm>
              <a:off x="0" y="0"/>
              <a:ext cx="700659" cy="694267"/>
              <a:chOff x="0" y="0"/>
              <a:chExt cx="138402" cy="137139"/>
            </a:xfrm>
          </p:grpSpPr>
          <p:sp>
            <p:nvSpPr>
              <p:cNvPr id="6" name="Freeform 6"/>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253754"/>
              </a:solidFill>
            </p:spPr>
            <p:txBody>
              <a:bodyPr/>
              <a:lstStyle/>
              <a:p>
                <a:endParaRPr/>
              </a:p>
            </p:txBody>
          </p:sp>
          <p:sp>
            <p:nvSpPr>
              <p:cNvPr id="7" name="TextBox 7"/>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8" name="TextBox 8"/>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42</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363396"/>
            <a:ext cx="16230600" cy="2410916"/>
          </a:xfrm>
          <a:prstGeom prst="rect">
            <a:avLst/>
          </a:prstGeom>
        </p:spPr>
        <p:txBody>
          <a:bodyPr lIns="0" tIns="0" rIns="0" bIns="0" rtlCol="0" anchor="t">
            <a:spAutoFit/>
          </a:bodyPr>
          <a:lstStyle/>
          <a:p>
            <a:pPr algn="ctr">
              <a:lnSpc>
                <a:spcPts val="3750"/>
              </a:lnSpc>
            </a:pPr>
            <a:r>
              <a:rPr lang="es-MX" sz="3000">
                <a:solidFill>
                  <a:srgbClr val="253754"/>
                </a:solidFill>
                <a:latin typeface="Glacial Indifference"/>
                <a:ea typeface="Glacial Indifference"/>
                <a:cs typeface="Glacial Indifference"/>
                <a:sym typeface="Glacial Indifference"/>
              </a:rPr>
              <a:t>Anexo link de acceso al código de este programa y a las actividades de la unidad 5 en GitHub:</a:t>
            </a:r>
          </a:p>
          <a:p>
            <a:pPr algn="ctr">
              <a:lnSpc>
                <a:spcPts val="3750"/>
              </a:lnSpc>
            </a:pPr>
            <a:endParaRPr lang="en-US" sz="3000" dirty="0">
              <a:solidFill>
                <a:srgbClr val="253754"/>
              </a:solidFill>
              <a:latin typeface="Glacial Indifference"/>
              <a:ea typeface="Glacial Indifference"/>
              <a:cs typeface="Glacial Indifference"/>
              <a:sym typeface="Glacial Indifference"/>
            </a:endParaRPr>
          </a:p>
          <a:p>
            <a:pPr algn="ctr">
              <a:lnSpc>
                <a:spcPts val="3750"/>
              </a:lnSpc>
            </a:pPr>
            <a:endParaRPr lang="en-US" sz="3000" dirty="0">
              <a:solidFill>
                <a:srgbClr val="253754"/>
              </a:solidFill>
              <a:latin typeface="Glacial Indifference"/>
              <a:ea typeface="Glacial Indifference"/>
              <a:cs typeface="Glacial Indifference"/>
              <a:sym typeface="Glacial Indifference"/>
            </a:endParaRPr>
          </a:p>
          <a:p>
            <a:pPr algn="ctr">
              <a:lnSpc>
                <a:spcPts val="3750"/>
              </a:lnSpc>
            </a:pPr>
            <a:r>
              <a:rPr lang="en-US" sz="3000" dirty="0">
                <a:solidFill>
                  <a:srgbClr val="253754"/>
                </a:solidFill>
                <a:latin typeface="Glacial Indifference"/>
                <a:ea typeface="Glacial Indifference"/>
                <a:cs typeface="Glacial Indifference"/>
                <a:sym typeface="Glacial Indifference"/>
                <a:hlinkClick r:id="rId2"/>
              </a:rPr>
              <a:t>https://github.com/Alan-Rodriguez0/TBD-Unidad-6.git</a:t>
            </a:r>
            <a:endParaRPr lang="en-US" sz="3000" dirty="0">
              <a:solidFill>
                <a:srgbClr val="253754"/>
              </a:solidFill>
              <a:latin typeface="Glacial Indifference"/>
              <a:ea typeface="Glacial Indifference"/>
              <a:cs typeface="Glacial Indifference"/>
              <a:sym typeface="Glacial Indifference"/>
            </a:endParaRPr>
          </a:p>
          <a:p>
            <a:pPr algn="ctr">
              <a:lnSpc>
                <a:spcPts val="3750"/>
              </a:lnSpc>
            </a:pPr>
            <a:endParaRPr lang="en-US" sz="3000" dirty="0">
              <a:solidFill>
                <a:srgbClr val="253754"/>
              </a:solidFill>
              <a:latin typeface="Glacial Indifference"/>
              <a:ea typeface="Glacial Indifference"/>
              <a:cs typeface="Glacial Indifference"/>
              <a:sym typeface="Glacial Indifference"/>
            </a:endParaRPr>
          </a:p>
        </p:txBody>
      </p:sp>
      <p:sp>
        <p:nvSpPr>
          <p:cNvPr id="3" name="TextBox 3"/>
          <p:cNvSpPr txBox="1"/>
          <p:nvPr/>
        </p:nvSpPr>
        <p:spPr>
          <a:xfrm>
            <a:off x="3537639" y="266699"/>
            <a:ext cx="11212723" cy="762001"/>
          </a:xfrm>
          <a:prstGeom prst="rect">
            <a:avLst/>
          </a:prstGeom>
        </p:spPr>
        <p:txBody>
          <a:bodyPr lIns="0" tIns="0" rIns="0" bIns="0" rtlCol="0" anchor="t">
            <a:spAutoFit/>
          </a:bodyPr>
          <a:lstStyle/>
          <a:p>
            <a:pPr algn="ctr">
              <a:lnSpc>
                <a:spcPts val="6299"/>
              </a:lnSpc>
            </a:pPr>
            <a:r>
              <a:rPr lang="en-US" sz="4499" b="1" spc="422">
                <a:solidFill>
                  <a:srgbClr val="152540"/>
                </a:solidFill>
                <a:latin typeface="Glacial Indifference Bold"/>
                <a:ea typeface="Glacial Indifference Bold"/>
                <a:cs typeface="Glacial Indifference Bold"/>
                <a:sym typeface="Glacial Indifference Bold"/>
              </a:rPr>
              <a:t>ANEXOS</a:t>
            </a:r>
          </a:p>
        </p:txBody>
      </p:sp>
      <p:grpSp>
        <p:nvGrpSpPr>
          <p:cNvPr id="4" name="Group 4"/>
          <p:cNvGrpSpPr/>
          <p:nvPr/>
        </p:nvGrpSpPr>
        <p:grpSpPr>
          <a:xfrm>
            <a:off x="17259300" y="9258300"/>
            <a:ext cx="525494" cy="520700"/>
            <a:chOff x="0" y="0"/>
            <a:chExt cx="700659" cy="694267"/>
          </a:xfrm>
        </p:grpSpPr>
        <p:grpSp>
          <p:nvGrpSpPr>
            <p:cNvPr id="5" name="Group 5"/>
            <p:cNvGrpSpPr/>
            <p:nvPr/>
          </p:nvGrpSpPr>
          <p:grpSpPr>
            <a:xfrm>
              <a:off x="0" y="0"/>
              <a:ext cx="700659" cy="694267"/>
              <a:chOff x="0" y="0"/>
              <a:chExt cx="138402" cy="137139"/>
            </a:xfrm>
          </p:grpSpPr>
          <p:sp>
            <p:nvSpPr>
              <p:cNvPr id="6" name="Freeform 6"/>
              <p:cNvSpPr/>
              <p:nvPr/>
            </p:nvSpPr>
            <p:spPr>
              <a:xfrm>
                <a:off x="0" y="0"/>
                <a:ext cx="138402" cy="137139"/>
              </a:xfrm>
              <a:custGeom>
                <a:avLst/>
                <a:gdLst/>
                <a:ahLst/>
                <a:cxnLst/>
                <a:rect l="l" t="t" r="r" b="b"/>
                <a:pathLst>
                  <a:path w="138402" h="137139">
                    <a:moveTo>
                      <a:pt x="0" y="0"/>
                    </a:moveTo>
                    <a:lnTo>
                      <a:pt x="138402" y="0"/>
                    </a:lnTo>
                    <a:lnTo>
                      <a:pt x="138402" y="137139"/>
                    </a:lnTo>
                    <a:lnTo>
                      <a:pt x="0" y="137139"/>
                    </a:lnTo>
                    <a:close/>
                  </a:path>
                </a:pathLst>
              </a:custGeom>
              <a:solidFill>
                <a:srgbClr val="253754"/>
              </a:solidFill>
            </p:spPr>
            <p:txBody>
              <a:bodyPr/>
              <a:lstStyle/>
              <a:p>
                <a:endParaRPr/>
              </a:p>
            </p:txBody>
          </p:sp>
          <p:sp>
            <p:nvSpPr>
              <p:cNvPr id="7" name="TextBox 7"/>
              <p:cNvSpPr txBox="1"/>
              <p:nvPr/>
            </p:nvSpPr>
            <p:spPr>
              <a:xfrm>
                <a:off x="0" y="-47625"/>
                <a:ext cx="138402" cy="184764"/>
              </a:xfrm>
              <a:prstGeom prst="rect">
                <a:avLst/>
              </a:prstGeom>
            </p:spPr>
            <p:txBody>
              <a:bodyPr lIns="50800" tIns="50800" rIns="50800" bIns="50800" rtlCol="0" anchor="ctr"/>
              <a:lstStyle/>
              <a:p>
                <a:pPr algn="ctr">
                  <a:lnSpc>
                    <a:spcPts val="3374"/>
                  </a:lnSpc>
                </a:pPr>
                <a:endParaRPr/>
              </a:p>
            </p:txBody>
          </p:sp>
        </p:grpSp>
        <p:sp>
          <p:nvSpPr>
            <p:cNvPr id="8" name="TextBox 8"/>
            <p:cNvSpPr txBox="1"/>
            <p:nvPr/>
          </p:nvSpPr>
          <p:spPr>
            <a:xfrm>
              <a:off x="0" y="40217"/>
              <a:ext cx="700659" cy="556683"/>
            </a:xfrm>
            <a:prstGeom prst="rect">
              <a:avLst/>
            </a:prstGeom>
          </p:spPr>
          <p:txBody>
            <a:bodyPr lIns="0" tIns="0" rIns="0" bIns="0" rtlCol="0" anchor="t">
              <a:spAutoFit/>
            </a:bodyPr>
            <a:lstStyle/>
            <a:p>
              <a:pPr algn="ctr">
                <a:lnSpc>
                  <a:spcPts val="3500"/>
                </a:lnSpc>
              </a:pPr>
              <a:r>
                <a:rPr lang="en-US" sz="2500" b="1">
                  <a:solidFill>
                    <a:srgbClr val="EDE8E4"/>
                  </a:solidFill>
                  <a:latin typeface="Glacial Indifference Bold"/>
                  <a:ea typeface="Glacial Indifference Bold"/>
                  <a:cs typeface="Glacial Indifference Bold"/>
                  <a:sym typeface="Glacial Indifference Bold"/>
                </a:rPr>
                <a:t>43</a:t>
              </a:r>
            </a:p>
          </p:txBody>
        </p:sp>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2065</Words>
  <Application>Microsoft Office PowerPoint</Application>
  <PresentationFormat>Personalizado</PresentationFormat>
  <Paragraphs>155</Paragraphs>
  <Slides>43</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43</vt:i4>
      </vt:variant>
    </vt:vector>
  </HeadingPairs>
  <TitlesOfParts>
    <vt:vector size="50" baseType="lpstr">
      <vt:lpstr>Montserrat Light</vt:lpstr>
      <vt:lpstr>Glacial Indifference Bold</vt:lpstr>
      <vt:lpstr>Arial</vt:lpstr>
      <vt:lpstr>Montserrat Light Bold</vt:lpstr>
      <vt:lpstr>Glacial Indifference</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 6.1 Reporte de práctica - Alan Eduardo Rodríguez Silvestre</dc:title>
  <cp:lastModifiedBy>Alan Rodríguez</cp:lastModifiedBy>
  <cp:revision>21</cp:revision>
  <dcterms:created xsi:type="dcterms:W3CDTF">2006-08-16T00:00:00Z</dcterms:created>
  <dcterms:modified xsi:type="dcterms:W3CDTF">2026-06-13T12:42:00Z</dcterms:modified>
</cp:coreProperties>
</file>